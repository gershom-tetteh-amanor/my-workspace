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84" r:id="rId3"/>
    <p:sldId id="263" r:id="rId4"/>
    <p:sldId id="265" r:id="rId5"/>
    <p:sldId id="264" r:id="rId6"/>
    <p:sldId id="277" r:id="rId7"/>
    <p:sldId id="278" r:id="rId8"/>
    <p:sldId id="282" r:id="rId9"/>
    <p:sldId id="267" r:id="rId10"/>
    <p:sldId id="281" r:id="rId11"/>
    <p:sldId id="280" r:id="rId12"/>
    <p:sldId id="285" r:id="rId13"/>
    <p:sldId id="286" r:id="rId14"/>
    <p:sldId id="268" r:id="rId15"/>
    <p:sldId id="269" r:id="rId16"/>
    <p:sldId id="270" r:id="rId17"/>
    <p:sldId id="262" r:id="rId18"/>
    <p:sldId id="287" r:id="rId19"/>
    <p:sldId id="288" r:id="rId20"/>
    <p:sldId id="289" r:id="rId21"/>
    <p:sldId id="283" r:id="rId22"/>
    <p:sldId id="29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33"/>
    <a:srgbClr val="CC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4355-B991-42E6-9F2F-504C9FEA0AD6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F59FA-966E-42CF-988C-AA6C2B6E1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471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4355-B991-42E6-9F2F-504C9FEA0AD6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F59FA-966E-42CF-988C-AA6C2B6E1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407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4355-B991-42E6-9F2F-504C9FEA0AD6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F59FA-966E-42CF-988C-AA6C2B6E1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953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4355-B991-42E6-9F2F-504C9FEA0AD6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F59FA-966E-42CF-988C-AA6C2B6E1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849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4355-B991-42E6-9F2F-504C9FEA0AD6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F59FA-966E-42CF-988C-AA6C2B6E1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903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4355-B991-42E6-9F2F-504C9FEA0AD6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F59FA-966E-42CF-988C-AA6C2B6E1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313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4355-B991-42E6-9F2F-504C9FEA0AD6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F59FA-966E-42CF-988C-AA6C2B6E1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8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4355-B991-42E6-9F2F-504C9FEA0AD6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F59FA-966E-42CF-988C-AA6C2B6E1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847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4355-B991-42E6-9F2F-504C9FEA0AD6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F59FA-966E-42CF-988C-AA6C2B6E1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83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4355-B991-42E6-9F2F-504C9FEA0AD6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F59FA-966E-42CF-988C-AA6C2B6E1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94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4355-B991-42E6-9F2F-504C9FEA0AD6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F59FA-966E-42CF-988C-AA6C2B6E1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95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4355-B991-42E6-9F2F-504C9FEA0AD6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F59FA-966E-42CF-988C-AA6C2B6E1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914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7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22.png"/><Relationship Id="rId10" Type="http://schemas.openxmlformats.org/officeDocument/2006/relationships/image" Target="../media/image10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7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3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2.png"/><Relationship Id="rId7" Type="http://schemas.openxmlformats.org/officeDocument/2006/relationships/image" Target="../media/image3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80.png"/><Relationship Id="rId7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0.png"/><Relationship Id="rId5" Type="http://schemas.openxmlformats.org/officeDocument/2006/relationships/image" Target="../media/image400.png"/><Relationship Id="rId10" Type="http://schemas.openxmlformats.org/officeDocument/2006/relationships/image" Target="../media/image45.png"/><Relationship Id="rId4" Type="http://schemas.openxmlformats.org/officeDocument/2006/relationships/image" Target="../media/image42.png"/><Relationship Id="rId9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emf"/><Relationship Id="rId4" Type="http://schemas.openxmlformats.org/officeDocument/2006/relationships/image" Target="../media/image48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3" Type="http://schemas.openxmlformats.org/officeDocument/2006/relationships/image" Target="../media/image64.png"/><Relationship Id="rId7" Type="http://schemas.openxmlformats.org/officeDocument/2006/relationships/image" Target="../media/image67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image" Target="../media/image6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1.png"/><Relationship Id="rId7" Type="http://schemas.openxmlformats.org/officeDocument/2006/relationships/image" Target="../media/image76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3" Type="http://schemas.openxmlformats.org/officeDocument/2006/relationships/image" Target="../media/image79.png"/><Relationship Id="rId7" Type="http://schemas.openxmlformats.org/officeDocument/2006/relationships/image" Target="../media/image27.png"/><Relationship Id="rId12" Type="http://schemas.openxmlformats.org/officeDocument/2006/relationships/image" Target="../media/image87.png"/><Relationship Id="rId2" Type="http://schemas.openxmlformats.org/officeDocument/2006/relationships/image" Target="../media/image78.png"/><Relationship Id="rId16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1" Type="http://schemas.openxmlformats.org/officeDocument/2006/relationships/image" Target="../media/image86.png"/><Relationship Id="rId5" Type="http://schemas.openxmlformats.org/officeDocument/2006/relationships/image" Target="../media/image81.pn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4" Type="http://schemas.openxmlformats.org/officeDocument/2006/relationships/image" Target="../media/image80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3" Type="http://schemas.openxmlformats.org/officeDocument/2006/relationships/image" Target="../media/image93.png"/><Relationship Id="rId7" Type="http://schemas.openxmlformats.org/officeDocument/2006/relationships/image" Target="../media/image101.png"/><Relationship Id="rId12" Type="http://schemas.openxmlformats.org/officeDocument/2006/relationships/image" Target="../media/image98.png"/><Relationship Id="rId2" Type="http://schemas.openxmlformats.org/officeDocument/2006/relationships/image" Target="../media/image92.png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97.png"/><Relationship Id="rId15" Type="http://schemas.openxmlformats.org/officeDocument/2006/relationships/image" Target="../media/image102.png"/><Relationship Id="rId10" Type="http://schemas.openxmlformats.org/officeDocument/2006/relationships/image" Target="../media/image96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03862"/>
            <a:ext cx="9144000" cy="679269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0000FF"/>
                </a:solidFill>
                <a:latin typeface="Berlin Sans FB Demi" panose="020E0802020502020306" pitchFamily="34" charset="0"/>
              </a:rPr>
              <a:t>Life Insurance Benefits</a:t>
            </a:r>
            <a:endParaRPr lang="en-US" sz="20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rlin Sans FB Demi" panose="020E0802020502020306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708705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Lecture 4</a:t>
            </a:r>
          </a:p>
          <a:p>
            <a:endParaRPr lang="en-US" sz="28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A4813-908C-4E75-86DF-2755BB9BC495}" type="slidenum">
              <a:rPr lang="en-US" smtClean="0"/>
              <a:t>1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454330" y="873125"/>
            <a:ext cx="9144000" cy="1607139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ACTU 301</a:t>
            </a:r>
            <a:br>
              <a:rPr lang="en-US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</a:br>
            <a:r>
              <a:rPr lang="en-US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Life Contingencies 1</a:t>
            </a:r>
            <a:endParaRPr lang="en-US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Black" panose="020B0A02040204020203" pitchFamily="34" charset="0"/>
              <a:ea typeface="Segoe UI Black" panose="020B0A02040204020203" pitchFamily="34" charset="0"/>
              <a:cs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19217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166" y="527325"/>
            <a:ext cx="6096000" cy="209288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 life assurance (or life insurance) policy is a contract which promises to pay a specified sum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say, on the death of a given life (the life assured) at any future time, or between certain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specified dates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600"/>
              </a:spcAft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death benefit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is called the sum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assured/insured;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it may be </a:t>
            </a:r>
            <a:r>
              <a:rPr lang="en-US" sz="1400" u="sng" dirty="0">
                <a:latin typeface="Arial" panose="020B0604020202020204" pitchFamily="34" charset="0"/>
                <a:cs typeface="Arial" panose="020B0604020202020204" pitchFamily="34" charset="0"/>
              </a:rPr>
              <a:t>level (constant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 or it may </a:t>
            </a:r>
            <a:r>
              <a:rPr lang="en-US" sz="1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increase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sz="1400" u="sng" dirty="0">
                <a:latin typeface="Arial" panose="020B0604020202020204" pitchFamily="34" charset="0"/>
                <a:cs typeface="Arial" panose="020B0604020202020204" pitchFamily="34" charset="0"/>
              </a:rPr>
              <a:t>decrease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in a manner specified in the contract. 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600"/>
              </a:spcAft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Policies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under which payments depend on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death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sz="1400" u="sng" dirty="0">
                <a:latin typeface="Arial" panose="020B0604020202020204" pitchFamily="34" charset="0"/>
                <a:cs typeface="Arial" panose="020B0604020202020204" pitchFamily="34" charset="0"/>
              </a:rPr>
              <a:t>survival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sz="1400" u="sng" dirty="0">
                <a:latin typeface="Arial" panose="020B0604020202020204" pitchFamily="34" charset="0"/>
                <a:cs typeface="Arial" panose="020B0604020202020204" pitchFamily="34" charset="0"/>
              </a:rPr>
              <a:t>more than one life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may also be issued.</a:t>
            </a:r>
          </a:p>
        </p:txBody>
      </p:sp>
      <p:sp>
        <p:nvSpPr>
          <p:cNvPr id="3" name="Rectangle 2"/>
          <p:cNvSpPr/>
          <p:nvPr/>
        </p:nvSpPr>
        <p:spPr>
          <a:xfrm>
            <a:off x="178372" y="3539153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Benefit payments can be either made at the time the contingent event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occurs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or at some set time like the end of the year in which the contingent event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occurs.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56162" y="1085929"/>
            <a:ext cx="520772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Given an annual effective interest rate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, the annual interest rate convertible 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mthly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satisfies: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274" y="1736794"/>
            <a:ext cx="2014537" cy="7272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68877" y="2564871"/>
            <a:ext cx="52077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and if the interest is compounded continuously we use the force of interest which is given by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1058" y="3066915"/>
            <a:ext cx="1496045" cy="4506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643416" y="351791"/>
            <a:ext cx="27606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inancial mathematics review 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12834" y="726692"/>
            <a:ext cx="519561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valuation of benefits involve some interest theory functions.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68877" y="3744518"/>
            <a:ext cx="520772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The annual effective discount rate can be defined in terms of the discount factor 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as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416" y="4311022"/>
            <a:ext cx="1790700" cy="5905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601543" y="4482879"/>
            <a:ext cx="6719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643416" y="5051729"/>
            <a:ext cx="519561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Finally, given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, the annual discount rate convertible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mthly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satisfies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166" y="209364"/>
            <a:ext cx="39966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Introduction to life insurance functions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78372" y="4251094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We shall value benefits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payments contingent on death or survival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of  a policyholder by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combining time value of money and survival models.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72" y="2714594"/>
            <a:ext cx="610050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 smtClean="0">
                <a:latin typeface="Arial" panose="020B0604020202020204" pitchFamily="34" charset="0"/>
              </a:rPr>
              <a:t>We </a:t>
            </a:r>
            <a:r>
              <a:rPr lang="en-US" sz="1400" dirty="0">
                <a:latin typeface="Arial" panose="020B0604020202020204" pitchFamily="34" charset="0"/>
              </a:rPr>
              <a:t>shall </a:t>
            </a:r>
            <a:r>
              <a:rPr lang="en-US" sz="1400" dirty="0" smtClean="0">
                <a:latin typeface="Arial" panose="020B0604020202020204" pitchFamily="34" charset="0"/>
              </a:rPr>
              <a:t>for now consider </a:t>
            </a:r>
            <a:r>
              <a:rPr lang="en-US" sz="1400" dirty="0">
                <a:latin typeface="Arial" panose="020B0604020202020204" pitchFamily="34" charset="0"/>
              </a:rPr>
              <a:t>contracts issued on the life of one person. </a:t>
            </a:r>
            <a:endParaRPr lang="en-US" sz="1400" dirty="0"/>
          </a:p>
        </p:txBody>
      </p:sp>
      <p:sp>
        <p:nvSpPr>
          <p:cNvPr id="20" name="Rectangle 19"/>
          <p:cNvSpPr/>
          <p:nvPr/>
        </p:nvSpPr>
        <p:spPr>
          <a:xfrm>
            <a:off x="178372" y="6008224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We shall develop formulas for the expected present value of the benefits paid by an insurance company for a number of different contract types.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8372" y="4746340"/>
            <a:ext cx="6096000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In particular, we shall use the </a:t>
            </a:r>
            <a:r>
              <a:rPr lang="en-US" sz="1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future lifetime random variable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to determine the value of a benefit payable immediately on the contingent event of an individual, and the </a:t>
            </a:r>
            <a:r>
              <a:rPr lang="en-US" sz="1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curtate future lifetime random variable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for when a payment is made at the end of the year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in which the contingent event occurs.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8372" y="3007955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We shall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further focus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on level benefit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policies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which pay the same amount of benefit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regardless of the time at which the benefit is paid. 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0949" y="4273286"/>
            <a:ext cx="1638300" cy="61912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6759" y="5565311"/>
            <a:ext cx="211455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54900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5788" y="2730646"/>
            <a:ext cx="57302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simplify calculations, we assume for now that the benefit amount is equal to GH₵1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(called unit insurance). </a:t>
            </a:r>
            <a:endParaRPr lang="en-US" sz="1400" i="1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70171" y="864513"/>
            <a:ext cx="56692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diagram below illustrates the mechanism of a unit-benefit continuous whole life insurance: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1" y="864513"/>
            <a:ext cx="5564777" cy="7386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By a whole life insurance we mean an insurance that makes a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benefit payment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at the time of death of the insured person, no matter when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that time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might be.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422" y="166868"/>
            <a:ext cx="26981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I. Whole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Life Insurance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423" y="3407754"/>
            <a:ext cx="573023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So t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hat the benefit function is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132663" y="3715531"/>
            <a:ext cx="20697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 smtClean="0">
                <a:effectLst/>
                <a:latin typeface="Times New Roman" panose="02020603050405020304" pitchFamily="18" charset="0"/>
              </a:rPr>
              <a:t>b</a:t>
            </a:r>
            <a:r>
              <a:rPr lang="en-US" sz="2000" i="1" baseline="-25000" dirty="0" smtClean="0">
                <a:latin typeface="Times New Roman" panose="02020603050405020304" pitchFamily="18" charset="0"/>
              </a:rPr>
              <a:t>Tx</a:t>
            </a:r>
            <a:r>
              <a:rPr lang="en-US" i="1" dirty="0" smtClean="0">
                <a:effectLst/>
                <a:latin typeface="Times New Roman" panose="02020603050405020304" pitchFamily="18" charset="0"/>
              </a:rPr>
              <a:t> </a:t>
            </a:r>
            <a:r>
              <a:rPr lang="en-US" dirty="0" smtClean="0">
                <a:effectLst/>
                <a:latin typeface="Arial" panose="020B0604020202020204" pitchFamily="34" charset="0"/>
              </a:rPr>
              <a:t>= </a:t>
            </a:r>
            <a:r>
              <a:rPr lang="en-US" dirty="0" smtClean="0">
                <a:effectLst/>
                <a:latin typeface="Times New Roman" panose="02020603050405020304" pitchFamily="18" charset="0"/>
              </a:rPr>
              <a:t>1, 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all </a:t>
            </a:r>
            <a:r>
              <a:rPr lang="en-US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i="1" baseline="-250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≥ 0</a:t>
            </a:r>
            <a:r>
              <a:rPr lang="en-US" dirty="0" smtClean="0">
                <a:effectLst/>
                <a:latin typeface="Times New Roman" panose="02020603050405020304" pitchFamily="18" charset="0"/>
              </a:rPr>
              <a:t>.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1422" y="4234676"/>
            <a:ext cx="573023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Multiplying the benefit function with the </a:t>
            </a:r>
            <a:r>
              <a:rPr lang="en-US" sz="1400" u="sng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discount factor for a period of </a:t>
            </a:r>
            <a:r>
              <a:rPr lang="en-US" sz="1600" i="1" u="sng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600" i="1" u="sng" baseline="-250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u="sng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years, we obtain the 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present value random variable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547234" y="4924807"/>
            <a:ext cx="1284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for all </a:t>
            </a:r>
            <a:r>
              <a:rPr lang="en-US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i="1" baseline="-250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≥ 0</a:t>
            </a:r>
            <a:r>
              <a:rPr lang="en-US" dirty="0" smtClean="0">
                <a:effectLst/>
                <a:latin typeface="Times New Roman" panose="02020603050405020304" pitchFamily="18" charset="0"/>
              </a:rPr>
              <a:t>.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95814" y="5307819"/>
            <a:ext cx="58358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denotes the </a:t>
            </a:r>
            <a:r>
              <a:rPr lang="en-US" sz="1400" u="sng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present value random variable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a unit-benefit insurance policy.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525820" y="3739536"/>
            <a:ext cx="3818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i="1" baseline="-250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9514357" y="2619810"/>
            <a:ext cx="138500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00" b="1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Death occurs </a:t>
            </a:r>
          </a:p>
          <a:p>
            <a:pPr algn="ctr"/>
            <a:r>
              <a:rPr lang="en-US" sz="11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benefit of GH₵1 is paid here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 flipH="1">
            <a:off x="9666408" y="3377746"/>
            <a:ext cx="133728" cy="236225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6474542" y="3869637"/>
            <a:ext cx="6591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effectLst/>
                <a:latin typeface="Times New Roman" panose="02020603050405020304" pitchFamily="18" charset="0"/>
              </a:rPr>
              <a:t>(Age x)</a:t>
            </a:r>
            <a:endParaRPr lang="en-US" sz="1200" dirty="0"/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6365970" y="3596442"/>
            <a:ext cx="488550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6804120" y="3469766"/>
            <a:ext cx="0" cy="2731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11036778" y="3300033"/>
            <a:ext cx="106792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 smtClean="0">
                <a:effectLst/>
                <a:latin typeface="Times New Roman" panose="02020603050405020304" pitchFamily="18" charset="0"/>
              </a:rPr>
              <a:t>Time from now</a:t>
            </a:r>
            <a:endParaRPr lang="en-US" sz="1100" dirty="0"/>
          </a:p>
        </p:txBody>
      </p:sp>
      <p:cxnSp>
        <p:nvCxnSpPr>
          <p:cNvPr id="62" name="Straight Connector 61"/>
          <p:cNvCxnSpPr/>
          <p:nvPr/>
        </p:nvCxnSpPr>
        <p:spPr>
          <a:xfrm>
            <a:off x="9666409" y="3521389"/>
            <a:ext cx="0" cy="1865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Arc 77"/>
          <p:cNvSpPr/>
          <p:nvPr/>
        </p:nvSpPr>
        <p:spPr>
          <a:xfrm>
            <a:off x="6792889" y="3012121"/>
            <a:ext cx="2832857" cy="594242"/>
          </a:xfrm>
          <a:custGeom>
            <a:avLst/>
            <a:gdLst>
              <a:gd name="connsiteX0" fmla="*/ 307909 w 3248292"/>
              <a:gd name="connsiteY0" fmla="*/ 139599 h 674149"/>
              <a:gd name="connsiteX1" fmla="*/ 1635875 w 3248292"/>
              <a:gd name="connsiteY1" fmla="*/ 9 h 674149"/>
              <a:gd name="connsiteX2" fmla="*/ 3140766 w 3248292"/>
              <a:gd name="connsiteY2" fmla="*/ 216467 h 674149"/>
              <a:gd name="connsiteX3" fmla="*/ 1624146 w 3248292"/>
              <a:gd name="connsiteY3" fmla="*/ 337075 h 674149"/>
              <a:gd name="connsiteX4" fmla="*/ 307909 w 3248292"/>
              <a:gd name="connsiteY4" fmla="*/ 139599 h 674149"/>
              <a:gd name="connsiteX0" fmla="*/ 307909 w 3248292"/>
              <a:gd name="connsiteY0" fmla="*/ 139599 h 674149"/>
              <a:gd name="connsiteX1" fmla="*/ 1635875 w 3248292"/>
              <a:gd name="connsiteY1" fmla="*/ 9 h 674149"/>
              <a:gd name="connsiteX2" fmla="*/ 3140766 w 3248292"/>
              <a:gd name="connsiteY2" fmla="*/ 216467 h 674149"/>
              <a:gd name="connsiteX0" fmla="*/ 0 w 2832857"/>
              <a:gd name="connsiteY0" fmla="*/ 396766 h 594242"/>
              <a:gd name="connsiteX1" fmla="*/ 1327966 w 2832857"/>
              <a:gd name="connsiteY1" fmla="*/ 257176 h 594242"/>
              <a:gd name="connsiteX2" fmla="*/ 2832857 w 2832857"/>
              <a:gd name="connsiteY2" fmla="*/ 473634 h 594242"/>
              <a:gd name="connsiteX3" fmla="*/ 1316237 w 2832857"/>
              <a:gd name="connsiteY3" fmla="*/ 594242 h 594242"/>
              <a:gd name="connsiteX4" fmla="*/ 0 w 2832857"/>
              <a:gd name="connsiteY4" fmla="*/ 396766 h 594242"/>
              <a:gd name="connsiteX0" fmla="*/ 0 w 2832857"/>
              <a:gd name="connsiteY0" fmla="*/ 396766 h 594242"/>
              <a:gd name="connsiteX1" fmla="*/ 1270816 w 2832857"/>
              <a:gd name="connsiteY1" fmla="*/ 1 h 594242"/>
              <a:gd name="connsiteX2" fmla="*/ 2832857 w 2832857"/>
              <a:gd name="connsiteY2" fmla="*/ 473634 h 594242"/>
              <a:gd name="connsiteX0" fmla="*/ 0 w 2832857"/>
              <a:gd name="connsiteY0" fmla="*/ 396766 h 594242"/>
              <a:gd name="connsiteX1" fmla="*/ 1185091 w 2832857"/>
              <a:gd name="connsiteY1" fmla="*/ 133351 h 594242"/>
              <a:gd name="connsiteX2" fmla="*/ 2832857 w 2832857"/>
              <a:gd name="connsiteY2" fmla="*/ 473634 h 594242"/>
              <a:gd name="connsiteX3" fmla="*/ 1316237 w 2832857"/>
              <a:gd name="connsiteY3" fmla="*/ 594242 h 594242"/>
              <a:gd name="connsiteX4" fmla="*/ 0 w 2832857"/>
              <a:gd name="connsiteY4" fmla="*/ 396766 h 594242"/>
              <a:gd name="connsiteX0" fmla="*/ 0 w 2832857"/>
              <a:gd name="connsiteY0" fmla="*/ 396766 h 594242"/>
              <a:gd name="connsiteX1" fmla="*/ 1270816 w 2832857"/>
              <a:gd name="connsiteY1" fmla="*/ 1 h 594242"/>
              <a:gd name="connsiteX2" fmla="*/ 2832857 w 2832857"/>
              <a:gd name="connsiteY2" fmla="*/ 473634 h 594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32857" h="594242" stroke="0" extrusionOk="0">
                <a:moveTo>
                  <a:pt x="0" y="396766"/>
                </a:moveTo>
                <a:cubicBezTo>
                  <a:pt x="307808" y="308396"/>
                  <a:pt x="659702" y="132563"/>
                  <a:pt x="1185091" y="133351"/>
                </a:cubicBezTo>
                <a:cubicBezTo>
                  <a:pt x="1853559" y="134353"/>
                  <a:pt x="2593667" y="344082"/>
                  <a:pt x="2832857" y="473634"/>
                </a:cubicBezTo>
                <a:lnTo>
                  <a:pt x="1316237" y="594242"/>
                </a:lnTo>
                <a:lnTo>
                  <a:pt x="0" y="396766"/>
                </a:lnTo>
                <a:close/>
              </a:path>
              <a:path w="2832857" h="594242" fill="none">
                <a:moveTo>
                  <a:pt x="0" y="396766"/>
                </a:moveTo>
                <a:cubicBezTo>
                  <a:pt x="307808" y="308396"/>
                  <a:pt x="745427" y="-787"/>
                  <a:pt x="1270816" y="1"/>
                </a:cubicBezTo>
                <a:cubicBezTo>
                  <a:pt x="1939284" y="1003"/>
                  <a:pt x="2593667" y="344082"/>
                  <a:pt x="2832857" y="473634"/>
                </a:cubicBezTo>
              </a:path>
            </a:pathLst>
          </a:custGeom>
          <a:ln w="19050"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6654078" y="3656652"/>
            <a:ext cx="2744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400" dirty="0"/>
          </a:p>
        </p:txBody>
      </p:sp>
      <p:sp>
        <p:nvSpPr>
          <p:cNvPr id="82" name="Rectangle 81"/>
          <p:cNvSpPr/>
          <p:nvPr/>
        </p:nvSpPr>
        <p:spPr>
          <a:xfrm>
            <a:off x="6371698" y="2578721"/>
            <a:ext cx="113020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00" b="1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Present value</a:t>
            </a: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GH</a:t>
            </a:r>
            <a:r>
              <a:rPr lang="en-US" sz="1100" dirty="0" smtClean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₵</a:t>
            </a:r>
            <a:r>
              <a:rPr lang="en-US" sz="11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 × </a:t>
            </a:r>
            <a:r>
              <a:rPr lang="en-US" sz="1100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aseline="300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lang="en-U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/>
              <p:cNvSpPr/>
              <p:nvPr/>
            </p:nvSpPr>
            <p:spPr>
              <a:xfrm>
                <a:off x="2239372" y="4904097"/>
                <a:ext cx="109536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3" name="Rectangle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372" y="4904097"/>
                <a:ext cx="1095364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6365970" y="526631"/>
            <a:ext cx="47644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solidFill>
                  <a:srgbClr val="0000FF"/>
                </a:solidFill>
                <a:latin typeface="Arial" panose="020B0604020202020204" pitchFamily="34" charset="0"/>
              </a:rPr>
              <a:t>Whole Life Insurance  </a:t>
            </a:r>
            <a:r>
              <a:rPr lang="en-US" sz="1400" b="1" dirty="0">
                <a:solidFill>
                  <a:srgbClr val="0000FF"/>
                </a:solidFill>
                <a:latin typeface="Arial" panose="020B0604020202020204" pitchFamily="34" charset="0"/>
              </a:rPr>
              <a:t>payable at the </a:t>
            </a:r>
            <a:r>
              <a:rPr lang="en-US" sz="1400" b="1" dirty="0" smtClean="0">
                <a:solidFill>
                  <a:srgbClr val="0000FF"/>
                </a:solidFill>
                <a:latin typeface="Arial" panose="020B0604020202020204" pitchFamily="34" charset="0"/>
              </a:rPr>
              <a:t>moment of </a:t>
            </a:r>
            <a:r>
              <a:rPr lang="en-US" sz="1400" b="1" dirty="0">
                <a:solidFill>
                  <a:srgbClr val="0000FF"/>
                </a:solidFill>
                <a:latin typeface="Arial" panose="020B0604020202020204" pitchFamily="34" charset="0"/>
              </a:rPr>
              <a:t>death</a:t>
            </a:r>
            <a:endParaRPr lang="en-US" sz="1400" b="1" dirty="0">
              <a:solidFill>
                <a:srgbClr val="0000FF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01422" y="556736"/>
            <a:ext cx="47644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solidFill>
                  <a:srgbClr val="0000FF"/>
                </a:solidFill>
                <a:latin typeface="Arial" panose="020B0604020202020204" pitchFamily="34" charset="0"/>
              </a:rPr>
              <a:t>Whole Life Insurance  </a:t>
            </a:r>
            <a:r>
              <a:rPr lang="en-US" sz="1400" b="1" dirty="0">
                <a:solidFill>
                  <a:srgbClr val="0000FF"/>
                </a:solidFill>
                <a:latin typeface="Arial" panose="020B0604020202020204" pitchFamily="34" charset="0"/>
              </a:rPr>
              <a:t>payable at the </a:t>
            </a:r>
            <a:r>
              <a:rPr lang="en-US" sz="1400" b="1" dirty="0" smtClean="0">
                <a:solidFill>
                  <a:srgbClr val="0000FF"/>
                </a:solidFill>
                <a:latin typeface="Arial" panose="020B0604020202020204" pitchFamily="34" charset="0"/>
              </a:rPr>
              <a:t>moment of </a:t>
            </a:r>
            <a:r>
              <a:rPr lang="en-US" sz="1400" b="1" dirty="0">
                <a:solidFill>
                  <a:srgbClr val="0000FF"/>
                </a:solidFill>
                <a:latin typeface="Arial" panose="020B0604020202020204" pitchFamily="34" charset="0"/>
              </a:rPr>
              <a:t>death</a:t>
            </a:r>
            <a:endParaRPr lang="en-US" sz="1400" b="1" dirty="0">
              <a:solidFill>
                <a:srgbClr val="0000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1907" y="1791928"/>
            <a:ext cx="57041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MR12"/>
              </a:rPr>
              <a:t>The models will be developed with a </a:t>
            </a:r>
            <a:r>
              <a:rPr lang="en-US" sz="1400" dirty="0" smtClean="0">
                <a:latin typeface="CMBX12"/>
              </a:rPr>
              <a:t>benefit function</a:t>
            </a:r>
            <a:r>
              <a:rPr lang="en-US" sz="1400" dirty="0" smtClean="0">
                <a:latin typeface="CMMI12"/>
              </a:rPr>
              <a:t>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dirty="0" smtClean="0">
                <a:latin typeface="CMMI12"/>
              </a:rPr>
              <a:t> </a:t>
            </a:r>
            <a:r>
              <a:rPr lang="en-US" sz="1400" dirty="0" smtClean="0">
                <a:latin typeface="CMR12"/>
              </a:rPr>
              <a:t>and </a:t>
            </a:r>
            <a:r>
              <a:rPr lang="en-US" sz="1400" dirty="0">
                <a:latin typeface="CMR12"/>
              </a:rPr>
              <a:t>a </a:t>
            </a:r>
            <a:r>
              <a:rPr lang="en-US" sz="1400" dirty="0" smtClean="0">
                <a:latin typeface="CMBX12"/>
              </a:rPr>
              <a:t>discount function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400" dirty="0" smtClean="0">
                <a:latin typeface="CMMI12"/>
              </a:rPr>
              <a:t>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045168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2583" y="1173826"/>
            <a:ext cx="572913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400" u="sng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cost of a whole life insurance </a:t>
            </a:r>
            <a:r>
              <a:rPr lang="en-US" sz="14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policy is represented as the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expected value of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(i.e. 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expected present value)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16576" y="4713241"/>
                <a:ext cx="5695407" cy="1970219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en-US" sz="1400" dirty="0" smtClean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We also say that </a:t>
                </a:r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 quantity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is </a:t>
                </a:r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also called the </a:t>
                </a:r>
                <a:r>
                  <a:rPr lang="en-US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net single premium </a:t>
                </a:r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of a whole </a:t>
                </a:r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life insurance </a:t>
                </a:r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with a unit payment made at the </a:t>
                </a:r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moment of </a:t>
                </a:r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death.</a:t>
                </a:r>
              </a:p>
              <a:p>
                <a:pPr marL="285750" indent="-285750" algn="just"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400" dirty="0" smtClean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By </a:t>
                </a:r>
                <a:r>
                  <a:rPr lang="en-US" sz="1400" u="sng" dirty="0" smtClean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net</a:t>
                </a:r>
                <a:r>
                  <a:rPr lang="en-US" sz="1400" dirty="0" smtClean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we mean that the premium is not loaded with any expenses, and;</a:t>
                </a:r>
              </a:p>
              <a:p>
                <a:pPr marL="285750" indent="-285750" algn="just"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400" dirty="0" smtClean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By single, we mean that the premium is paid as a single lump sum at the inception of the contract.</a:t>
                </a:r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76" y="4713241"/>
                <a:ext cx="5695407" cy="1970219"/>
              </a:xfrm>
              <a:prstGeom prst="rect">
                <a:avLst/>
              </a:prstGeom>
              <a:blipFill>
                <a:blip r:embed="rId5"/>
                <a:stretch>
                  <a:fillRect l="-214" t="-308" r="-214" b="-2154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235131" y="512788"/>
            <a:ext cx="56850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average cost of a whole life insurance is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referred to as </a:t>
            </a:r>
            <a:r>
              <a:rPr lang="en-US" sz="14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40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actuarial </a:t>
            </a:r>
            <a:r>
              <a:rPr lang="en-US" sz="1400" u="sng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 value</a:t>
            </a:r>
            <a:r>
              <a:rPr lang="en-US" sz="14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(APV) of 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random variable </a:t>
            </a:r>
            <a:r>
              <a:rPr lang="en-US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Z.</a:t>
            </a:r>
            <a:endParaRPr lang="en-US" sz="1400" i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7198" y="2305960"/>
            <a:ext cx="55631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a life aged </a:t>
            </a:r>
            <a:r>
              <a:rPr lang="en-US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sz="140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cost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14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would 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denoted </a:t>
            </a:r>
            <a:r>
              <a:rPr lang="en-US" sz="14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6498" y="3277106"/>
            <a:ext cx="5755564" cy="130805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the symbol,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2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600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2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stands for the APV of a life insurance, 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12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 </a:t>
            </a:r>
            <a:r>
              <a:rPr lang="en-US" sz="1600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2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indicates the age of the policyholder at the beginning of the contract.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bar over the </a:t>
            </a:r>
            <a:r>
              <a:rPr lang="en-US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2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indicates that </a:t>
            </a:r>
            <a:r>
              <a:rPr lang="en-US" sz="1200" dirty="0" smtClean="0">
                <a:latin typeface="CMR10"/>
              </a:rPr>
              <a:t>this average cost is calculated on a continuous basis (i.e. at the time of death)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896373" y="2789320"/>
                <a:ext cx="1406475" cy="4008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373" y="2789320"/>
                <a:ext cx="1406475" cy="400815"/>
              </a:xfrm>
              <a:prstGeom prst="rect">
                <a:avLst/>
              </a:prstGeom>
              <a:blipFill>
                <a:blip r:embed="rId2"/>
                <a:stretch>
                  <a:fillRect t="-127692" r="-40260" b="-19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138608" y="1870098"/>
                <a:ext cx="87504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608" y="1870098"/>
                <a:ext cx="875048" cy="338554"/>
              </a:xfrm>
              <a:prstGeom prst="rect">
                <a:avLst/>
              </a:prstGeom>
              <a:blipFill>
                <a:blip r:embed="rId6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74041" y="1878937"/>
            <a:ext cx="5822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Thus</a:t>
            </a:r>
            <a:endParaRPr lang="en-US" sz="1400" dirty="0"/>
          </a:p>
        </p:txBody>
      </p:sp>
      <p:sp>
        <p:nvSpPr>
          <p:cNvPr id="10" name="Rectangle 9"/>
          <p:cNvSpPr/>
          <p:nvPr/>
        </p:nvSpPr>
        <p:spPr>
          <a:xfrm>
            <a:off x="1068010" y="1884261"/>
            <a:ext cx="17203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average </a:t>
            </a:r>
            <a:r>
              <a:rPr lang="en-US" sz="14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 =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217208" y="2305383"/>
                <a:ext cx="496867" cy="3699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7208" y="2305383"/>
                <a:ext cx="496867" cy="369909"/>
              </a:xfrm>
              <a:prstGeom prst="rect">
                <a:avLst/>
              </a:prstGeom>
              <a:blipFill>
                <a:blip r:embed="rId7"/>
                <a:stretch>
                  <a:fillRect r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6072075" y="1642867"/>
            <a:ext cx="551347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To calculate the expected value, we simply integrate out the product of </a:t>
            </a:r>
            <a:r>
              <a:rPr lang="en-US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the density function of the underlying random variable </a:t>
            </a:r>
            <a:r>
              <a:rPr lang="en-US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i="1" baseline="-250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that is,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30768" y="4499463"/>
            <a:ext cx="4139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there is a limiting age, we replace 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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with ω – x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6127905" y="533402"/>
                <a:ext cx="5457640" cy="10624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Once we know how to deal with insurances paying a unit, we can </a:t>
                </a:r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deal with </a:t>
                </a:r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insurances making a general payment. </a:t>
                </a:r>
                <a:endParaRPr lang="en-US" sz="14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actuarial present </a:t>
                </a:r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value of </a:t>
                </a:r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a whole life insurance with payment </a:t>
                </a:r>
                <a:r>
                  <a:rPr lang="en-US" sz="14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US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is </a:t>
                </a:r>
                <a:r>
                  <a:rPr lang="en-US" sz="1400" b="1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905" y="533402"/>
                <a:ext cx="5457640" cy="1062407"/>
              </a:xfrm>
              <a:prstGeom prst="rect">
                <a:avLst/>
              </a:prstGeom>
              <a:blipFill>
                <a:blip r:embed="rId8"/>
                <a:stretch>
                  <a:fillRect l="-335" t="-1149" r="-223" b="-45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6300689" y="4860468"/>
            <a:ext cx="5137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calculate the variance of </a:t>
            </a:r>
            <a:r>
              <a:rPr lang="en-US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we can make use of the identity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567062" y="5257499"/>
            <a:ext cx="25587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(Z</a:t>
            </a:r>
            <a:r>
              <a:rPr lang="en-US" baseline="300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– [</a:t>
            </a:r>
            <a:r>
              <a:rPr lang="en-US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(Z)]</a:t>
            </a:r>
            <a:r>
              <a:rPr lang="en-US" baseline="300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8703" y="5607135"/>
            <a:ext cx="2581275" cy="1076325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2667931" y="1888247"/>
            <a:ext cx="5453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APV</a:t>
            </a:r>
            <a:endParaRPr lang="en-US" sz="1400" dirty="0"/>
          </a:p>
        </p:txBody>
      </p:sp>
      <p:sp>
        <p:nvSpPr>
          <p:cNvPr id="15" name="Rectangle 14"/>
          <p:cNvSpPr/>
          <p:nvPr/>
        </p:nvSpPr>
        <p:spPr>
          <a:xfrm>
            <a:off x="6567062" y="5693480"/>
            <a:ext cx="6719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072075" y="279664"/>
            <a:ext cx="47644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solidFill>
                  <a:srgbClr val="0000FF"/>
                </a:solidFill>
                <a:latin typeface="Arial" panose="020B0604020202020204" pitchFamily="34" charset="0"/>
              </a:rPr>
              <a:t>Whole Life Insurance  </a:t>
            </a:r>
            <a:r>
              <a:rPr lang="en-US" sz="1400" b="1" dirty="0">
                <a:solidFill>
                  <a:srgbClr val="0000FF"/>
                </a:solidFill>
                <a:latin typeface="Arial" panose="020B0604020202020204" pitchFamily="34" charset="0"/>
              </a:rPr>
              <a:t>payable at the </a:t>
            </a:r>
            <a:r>
              <a:rPr lang="en-US" sz="1400" b="1" dirty="0" smtClean="0">
                <a:solidFill>
                  <a:srgbClr val="0000FF"/>
                </a:solidFill>
                <a:latin typeface="Arial" panose="020B0604020202020204" pitchFamily="34" charset="0"/>
              </a:rPr>
              <a:t>moment of </a:t>
            </a:r>
            <a:r>
              <a:rPr lang="en-US" sz="1400" b="1" dirty="0">
                <a:solidFill>
                  <a:srgbClr val="0000FF"/>
                </a:solidFill>
                <a:latin typeface="Arial" panose="020B0604020202020204" pitchFamily="34" charset="0"/>
              </a:rPr>
              <a:t>death</a:t>
            </a:r>
            <a:endParaRPr lang="en-US" sz="1400" b="1" dirty="0">
              <a:solidFill>
                <a:srgbClr val="0000FF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17387" y="238563"/>
            <a:ext cx="47644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solidFill>
                  <a:srgbClr val="0000FF"/>
                </a:solidFill>
                <a:latin typeface="Arial" panose="020B0604020202020204" pitchFamily="34" charset="0"/>
              </a:rPr>
              <a:t>Whole Life Insurance  </a:t>
            </a:r>
            <a:r>
              <a:rPr lang="en-US" sz="1400" b="1" dirty="0">
                <a:solidFill>
                  <a:srgbClr val="0000FF"/>
                </a:solidFill>
                <a:latin typeface="Arial" panose="020B0604020202020204" pitchFamily="34" charset="0"/>
              </a:rPr>
              <a:t>payable at the </a:t>
            </a:r>
            <a:r>
              <a:rPr lang="en-US" sz="1400" b="1" dirty="0" smtClean="0">
                <a:solidFill>
                  <a:srgbClr val="0000FF"/>
                </a:solidFill>
                <a:latin typeface="Arial" panose="020B0604020202020204" pitchFamily="34" charset="0"/>
              </a:rPr>
              <a:t>moment of </a:t>
            </a:r>
            <a:r>
              <a:rPr lang="en-US" sz="1400" b="1" dirty="0">
                <a:solidFill>
                  <a:srgbClr val="0000FF"/>
                </a:solidFill>
                <a:latin typeface="Arial" panose="020B0604020202020204" pitchFamily="34" charset="0"/>
              </a:rPr>
              <a:t>death</a:t>
            </a:r>
            <a:endParaRPr lang="en-US" sz="14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698763" y="2409528"/>
                <a:ext cx="1939826" cy="3391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8763" y="2409528"/>
                <a:ext cx="1939826" cy="339132"/>
              </a:xfrm>
              <a:prstGeom prst="rect">
                <a:avLst/>
              </a:prstGeom>
              <a:blipFill>
                <a:blip r:embed="rId10"/>
                <a:stretch>
                  <a:fillRect t="-107143" r="-22013" b="-169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714511" y="2751170"/>
                <a:ext cx="2572114" cy="6251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4511" y="2751170"/>
                <a:ext cx="2572114" cy="62510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714511" y="3269826"/>
                <a:ext cx="2185534" cy="6251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16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Pre>
                            <m:sPrePr>
                              <m:ctrlP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sPr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4511" y="3269826"/>
                <a:ext cx="2185534" cy="62510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6727243" y="3855038"/>
                <a:ext cx="2373663" cy="6251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16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Pre>
                            <m:sPrePr>
                              <m:ctrlP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sPr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7243" y="3855038"/>
                <a:ext cx="2373663" cy="62510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319006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02201" y="805661"/>
            <a:ext cx="5638800" cy="10310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 observe that the formula for </a:t>
            </a:r>
            <a:r>
              <a:rPr lang="en-US" sz="1400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(Z</a:t>
            </a:r>
            <a:r>
              <a:rPr lang="en-US" sz="1400" baseline="300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is the same as that for </a:t>
            </a:r>
            <a:r>
              <a:rPr lang="en-US" sz="1400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(Z), except that δ is replaced with 2δ. 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obtain E(Z</a:t>
            </a:r>
            <a:r>
              <a:rPr lang="en-US" sz="1400" baseline="300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we simply evaluate E(Z) at two times the original force of interest. </a:t>
            </a:r>
          </a:p>
        </p:txBody>
      </p:sp>
      <p:sp>
        <p:nvSpPr>
          <p:cNvPr id="2" name="Rectangle 1"/>
          <p:cNvSpPr/>
          <p:nvPr/>
        </p:nvSpPr>
        <p:spPr>
          <a:xfrm>
            <a:off x="322761" y="4579094"/>
            <a:ext cx="555062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result that E(Z</a:t>
            </a:r>
            <a:r>
              <a:rPr lang="en-US" sz="14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is E(Z) evaluated at 2δ is applicable to not only a unit-benefit whole life insurance, but also any insurance policy with </a:t>
            </a:r>
            <a:r>
              <a:rPr lang="en-US" sz="1400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sz="1400" i="1" baseline="-25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Tx</a:t>
            </a:r>
            <a:r>
              <a:rPr lang="en-US" sz="14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= </a:t>
            </a:r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1 for all Tx. 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34586" y="2145821"/>
                <a:ext cx="5638800" cy="6129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just"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400" dirty="0" smtClean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We denote E(Z</a:t>
                </a:r>
                <a:r>
                  <a:rPr lang="en-US" sz="1400" baseline="30000" dirty="0" smtClean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400" dirty="0" smtClean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) for a continuous unit-benefit whole life insurance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PrePr>
                          <m:sub/>
                          <m:sup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 smtClean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 smtClean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586" y="2145821"/>
                <a:ext cx="5638800" cy="612988"/>
              </a:xfrm>
              <a:prstGeom prst="rect">
                <a:avLst/>
              </a:prstGeom>
              <a:blipFill>
                <a:blip r:embed="rId2"/>
                <a:stretch>
                  <a:fillRect l="-108" t="-1980" r="-324" b="-5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/>
          <p:cNvSpPr/>
          <p:nvPr/>
        </p:nvSpPr>
        <p:spPr>
          <a:xfrm>
            <a:off x="234586" y="3425654"/>
            <a:ext cx="58102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superscript 2,indicates that the quantity is E(Z) calculated at 2δ.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60689" y="2878315"/>
            <a:ext cx="9172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E(Z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 =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2010380" y="2833372"/>
                <a:ext cx="673133" cy="3975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PrePr>
                          <m:sub/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380" y="2833372"/>
                <a:ext cx="673133" cy="397545"/>
              </a:xfrm>
              <a:prstGeom prst="rect">
                <a:avLst/>
              </a:prstGeom>
              <a:blipFill>
                <a:blip r:embed="rId3"/>
                <a:stretch>
                  <a:fillRect r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892371" y="3856954"/>
                <a:ext cx="2517291" cy="3975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Pre>
                            <m:sPre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</m:sPre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371" y="3856954"/>
                <a:ext cx="2517291" cy="3975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/>
          <p:cNvSpPr/>
          <p:nvPr/>
        </p:nvSpPr>
        <p:spPr>
          <a:xfrm>
            <a:off x="234586" y="378680"/>
            <a:ext cx="47644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solidFill>
                  <a:srgbClr val="0000FF"/>
                </a:solidFill>
                <a:latin typeface="Arial" panose="020B0604020202020204" pitchFamily="34" charset="0"/>
              </a:rPr>
              <a:t>Whole Life Insurance  </a:t>
            </a:r>
            <a:r>
              <a:rPr lang="en-US" sz="1400" b="1" dirty="0">
                <a:solidFill>
                  <a:srgbClr val="0000FF"/>
                </a:solidFill>
                <a:latin typeface="Arial" panose="020B0604020202020204" pitchFamily="34" charset="0"/>
              </a:rPr>
              <a:t>payable at the </a:t>
            </a:r>
            <a:r>
              <a:rPr lang="en-US" sz="1400" b="1" dirty="0" smtClean="0">
                <a:solidFill>
                  <a:srgbClr val="0000FF"/>
                </a:solidFill>
                <a:latin typeface="Arial" panose="020B0604020202020204" pitchFamily="34" charset="0"/>
              </a:rPr>
              <a:t>moment of </a:t>
            </a:r>
            <a:r>
              <a:rPr lang="en-US" sz="1400" b="1" dirty="0">
                <a:solidFill>
                  <a:srgbClr val="0000FF"/>
                </a:solidFill>
                <a:latin typeface="Arial" panose="020B0604020202020204" pitchFamily="34" charset="0"/>
              </a:rPr>
              <a:t>death</a:t>
            </a:r>
            <a:endParaRPr lang="en-US" sz="1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61173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2922" y="435143"/>
            <a:ext cx="53383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solidFill>
                  <a:srgbClr val="990033"/>
                </a:solidFill>
                <a:latin typeface="Arial" panose="020B0604020202020204" pitchFamily="34" charset="0"/>
              </a:rPr>
              <a:t>Whole Life Insurance  </a:t>
            </a:r>
            <a:r>
              <a:rPr lang="en-US" sz="1400" b="1" dirty="0">
                <a:solidFill>
                  <a:srgbClr val="990033"/>
                </a:solidFill>
                <a:latin typeface="Arial" panose="020B0604020202020204" pitchFamily="34" charset="0"/>
              </a:rPr>
              <a:t>payable at the end of the year of death</a:t>
            </a:r>
            <a:endParaRPr lang="en-US" sz="1400" b="1" dirty="0">
              <a:solidFill>
                <a:srgbClr val="990033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2922" y="767573"/>
            <a:ext cx="54626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Arial" panose="020B0604020202020204" pitchFamily="34" charset="0"/>
              </a:rPr>
              <a:t>Suppose that the death benefit </a:t>
            </a:r>
            <a:r>
              <a:rPr lang="en-US" sz="1400" dirty="0" smtClean="0">
                <a:latin typeface="Arial" panose="020B0604020202020204" pitchFamily="34" charset="0"/>
              </a:rPr>
              <a:t>is </a:t>
            </a:r>
            <a:r>
              <a:rPr lang="en-US" sz="1400" dirty="0">
                <a:latin typeface="Arial" panose="020B0604020202020204" pitchFamily="34" charset="0"/>
              </a:rPr>
              <a:t>payable at the end of the year of death (years being </a:t>
            </a:r>
            <a:r>
              <a:rPr lang="en-US" sz="1400" dirty="0" smtClean="0">
                <a:latin typeface="Arial" panose="020B0604020202020204" pitchFamily="34" charset="0"/>
              </a:rPr>
              <a:t>measured from </a:t>
            </a:r>
            <a:r>
              <a:rPr lang="en-US" sz="1400" dirty="0">
                <a:latin typeface="Arial" panose="020B0604020202020204" pitchFamily="34" charset="0"/>
              </a:rPr>
              <a:t>the date of issue of the policy). </a:t>
            </a:r>
          </a:p>
        </p:txBody>
      </p:sp>
      <p:sp>
        <p:nvSpPr>
          <p:cNvPr id="4" name="Rectangle 3"/>
          <p:cNvSpPr/>
          <p:nvPr/>
        </p:nvSpPr>
        <p:spPr>
          <a:xfrm>
            <a:off x="243839" y="3107859"/>
            <a:ext cx="562573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timing of the death benefit is illustrated by the following diagram.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93" y="3682937"/>
            <a:ext cx="5635499" cy="16533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296431" y="1780704"/>
                <a:ext cx="160781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431" y="1780704"/>
                <a:ext cx="1607812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3531260" y="1824318"/>
            <a:ext cx="17508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4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i="1" dirty="0">
                <a:latin typeface="Times New Roman" panose="02020603050405020304" pitchFamily="18" charset="0"/>
              </a:rPr>
              <a:t> </a:t>
            </a:r>
            <a:r>
              <a:rPr lang="en-US" sz="1400" dirty="0">
                <a:latin typeface="Arial" panose="020B0604020202020204" pitchFamily="34" charset="0"/>
              </a:rPr>
              <a:t>=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0, 1, 2, ... . </a:t>
            </a:r>
          </a:p>
        </p:txBody>
      </p:sp>
      <p:sp>
        <p:nvSpPr>
          <p:cNvPr id="8" name="Rectangle 7"/>
          <p:cNvSpPr/>
          <p:nvPr/>
        </p:nvSpPr>
        <p:spPr>
          <a:xfrm>
            <a:off x="172922" y="1373428"/>
            <a:ext cx="472611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present value random variable for this benefit is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3840" y="2291674"/>
            <a:ext cx="535438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Here,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depends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on a discrete random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variable (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4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09077" y="1490848"/>
            <a:ext cx="519901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Actuarial Present Value of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this policy for life (x) with one unit in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benefits payable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at the end of the year of death is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given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the formula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09077" y="767573"/>
            <a:ext cx="56077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This means that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 should be calculated as a </a:t>
            </a:r>
            <a:r>
              <a:rPr lang="en-US" sz="1400" u="sng" dirty="0">
                <a:latin typeface="Arial" panose="020B0604020202020204" pitchFamily="34" charset="0"/>
                <a:cs typeface="Arial" panose="020B0604020202020204" pitchFamily="34" charset="0"/>
              </a:rPr>
              <a:t>summation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instead of an </a:t>
            </a:r>
            <a:r>
              <a:rPr lang="en-US" sz="1400" u="sng" dirty="0">
                <a:latin typeface="Arial" panose="020B0604020202020204" pitchFamily="34" charset="0"/>
                <a:cs typeface="Arial" panose="020B0604020202020204" pitchFamily="34" charset="0"/>
              </a:rPr>
              <a:t>integral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it should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based on the probability function of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70512" y="4854940"/>
            <a:ext cx="2076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We denote </a:t>
            </a:r>
            <a:r>
              <a:rPr lang="en-US" dirty="0">
                <a:latin typeface="Times New Roman" panose="02020603050405020304" pitchFamily="18" charset="0"/>
              </a:rPr>
              <a:t>E(</a:t>
            </a:r>
            <a:r>
              <a:rPr lang="en-US" i="1" dirty="0">
                <a:latin typeface="Times New Roman" panose="02020603050405020304" pitchFamily="18" charset="0"/>
              </a:rPr>
              <a:t>Z</a:t>
            </a:r>
            <a:r>
              <a:rPr lang="en-US" dirty="0">
                <a:latin typeface="Times New Roman" panose="02020603050405020304" pitchFamily="18" charset="0"/>
              </a:rPr>
              <a:t>)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</a:rPr>
              <a:t>A</a:t>
            </a:r>
            <a:r>
              <a:rPr lang="en-US" i="1" baseline="-25000" dirty="0">
                <a:latin typeface="Times New Roman" panose="02020603050405020304" pitchFamily="18" charset="0"/>
              </a:rPr>
              <a:t>x</a:t>
            </a:r>
            <a:endParaRPr lang="en-US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7046615" y="5378548"/>
                <a:ext cx="2500043" cy="8478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sPre>
                            <m:sPre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sPr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615" y="5378548"/>
                <a:ext cx="2500043" cy="8478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968377" y="2042031"/>
                <a:ext cx="2868606" cy="8478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8377" y="2042031"/>
                <a:ext cx="2868606" cy="8478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7019288" y="3868071"/>
                <a:ext cx="2766783" cy="8478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nary>
                      <m:sPre>
                        <m:sPre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sPre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9288" y="3868071"/>
                <a:ext cx="2766783" cy="8478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6968377" y="2955051"/>
                <a:ext cx="2309735" cy="8478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nary>
                      <m:sPre>
                        <m:sPre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|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sPre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8377" y="2955051"/>
                <a:ext cx="2309735" cy="8478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5909077" y="457532"/>
            <a:ext cx="53383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solidFill>
                  <a:srgbClr val="990033"/>
                </a:solidFill>
                <a:latin typeface="Arial" panose="020B0604020202020204" pitchFamily="34" charset="0"/>
              </a:rPr>
              <a:t>Whole Life Insurance  </a:t>
            </a:r>
            <a:r>
              <a:rPr lang="en-US" sz="1400" b="1" dirty="0">
                <a:solidFill>
                  <a:srgbClr val="990033"/>
                </a:solidFill>
                <a:latin typeface="Arial" panose="020B0604020202020204" pitchFamily="34" charset="0"/>
              </a:rPr>
              <a:t>payable at the end of the year of death</a:t>
            </a:r>
            <a:endParaRPr lang="en-US" sz="1400" b="1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438921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0297" y="761687"/>
            <a:ext cx="564315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second moment of </a:t>
            </a:r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is denoted by </a:t>
            </a:r>
            <a:r>
              <a:rPr lang="en-US" sz="160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6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is given by</a:t>
            </a:r>
          </a:p>
        </p:txBody>
      </p:sp>
      <p:sp>
        <p:nvSpPr>
          <p:cNvPr id="4" name="Rectangle 3"/>
          <p:cNvSpPr/>
          <p:nvPr/>
        </p:nvSpPr>
        <p:spPr>
          <a:xfrm>
            <a:off x="322630" y="2066671"/>
            <a:ext cx="21852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variance of </a:t>
            </a:r>
            <a:r>
              <a:rPr lang="en-US" i="1" dirty="0" smtClean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is then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03542" y="1119008"/>
                <a:ext cx="2903359" cy="8478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Pre>
                            <m:sPre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sPre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d>
                                <m:dPr>
                                  <m:begChr m:val=""/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2(</m:t>
                                  </m:r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p>
                          <m:sPre>
                            <m:sPre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sPr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42" y="1119008"/>
                <a:ext cx="2903359" cy="8478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988164" y="2554571"/>
                <a:ext cx="2776465" cy="4314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Pre>
                            <m:sPre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sPre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164" y="2554571"/>
                <a:ext cx="2776465" cy="4314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5843452" y="849785"/>
            <a:ext cx="6096000" cy="118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 smtClean="0">
                <a:latin typeface="Arial" panose="020B0604020202020204" pitchFamily="34" charset="0"/>
              </a:rPr>
              <a:t>Example</a:t>
            </a:r>
          </a:p>
          <a:p>
            <a:pPr>
              <a:spcAft>
                <a:spcPts val="600"/>
              </a:spcAft>
            </a:pPr>
            <a:r>
              <a:rPr lang="en-US" sz="1400" dirty="0" smtClean="0">
                <a:latin typeface="Arial" panose="020B0604020202020204" pitchFamily="34" charset="0"/>
              </a:rPr>
              <a:t>Let </a:t>
            </a:r>
            <a:r>
              <a:rPr lang="en-US" sz="1400" dirty="0">
                <a:latin typeface="Arial" panose="020B0604020202020204" pitchFamily="34" charset="0"/>
              </a:rPr>
              <a:t>the remaining lifetime at birth random variable </a:t>
            </a:r>
            <a:r>
              <a:rPr lang="en-US" sz="1400" i="1" dirty="0">
                <a:latin typeface="Arial" panose="020B0604020202020204" pitchFamily="34" charset="0"/>
              </a:rPr>
              <a:t>X </a:t>
            </a:r>
            <a:r>
              <a:rPr lang="en-US" sz="1400" dirty="0">
                <a:latin typeface="Arial" panose="020B0604020202020204" pitchFamily="34" charset="0"/>
              </a:rPr>
              <a:t>be uniform on [0,100].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latin typeface="Arial" panose="020B0604020202020204" pitchFamily="34" charset="0"/>
              </a:rPr>
              <a:t>Let </a:t>
            </a:r>
            <a:r>
              <a:rPr lang="en-US" sz="1400" i="1" dirty="0">
                <a:latin typeface="Arial" panose="020B0604020202020204" pitchFamily="34" charset="0"/>
              </a:rPr>
              <a:t>Z</a:t>
            </a:r>
            <a:r>
              <a:rPr lang="en-US" sz="1400" baseline="-25000" dirty="0">
                <a:latin typeface="Arial" panose="020B0604020202020204" pitchFamily="34" charset="0"/>
              </a:rPr>
              <a:t>30  </a:t>
            </a:r>
            <a:r>
              <a:rPr lang="en-US" sz="1400" dirty="0">
                <a:latin typeface="Arial" panose="020B0604020202020204" pitchFamily="34" charset="0"/>
              </a:rPr>
              <a:t>be the contingent payment random variable for a life aged </a:t>
            </a:r>
            <a:r>
              <a:rPr lang="en-US" sz="1400" i="1" dirty="0">
                <a:latin typeface="Arial" panose="020B0604020202020204" pitchFamily="34" charset="0"/>
              </a:rPr>
              <a:t>x </a:t>
            </a:r>
            <a:r>
              <a:rPr lang="en-US" sz="1400" dirty="0">
                <a:latin typeface="Arial" panose="020B0604020202020204" pitchFamily="34" charset="0"/>
              </a:rPr>
              <a:t>= 30</a:t>
            </a:r>
            <a:r>
              <a:rPr lang="en-US" sz="1400" i="1" dirty="0" smtClean="0">
                <a:latin typeface="Arial" panose="020B0604020202020204" pitchFamily="34" charset="0"/>
              </a:rPr>
              <a:t>.</a:t>
            </a:r>
          </a:p>
          <a:p>
            <a:r>
              <a:rPr lang="en-US" sz="1400" dirty="0" smtClean="0">
                <a:latin typeface="Arial" panose="020B0604020202020204" pitchFamily="34" charset="0"/>
              </a:rPr>
              <a:t>Find </a:t>
            </a:r>
            <a:r>
              <a:rPr lang="en-US" sz="1400" i="1" dirty="0">
                <a:latin typeface="Arial" panose="020B0604020202020204" pitchFamily="34" charset="0"/>
              </a:rPr>
              <a:t>A</a:t>
            </a:r>
            <a:r>
              <a:rPr lang="en-US" sz="1400" baseline="-25000" dirty="0">
                <a:latin typeface="Arial" panose="020B0604020202020204" pitchFamily="34" charset="0"/>
              </a:rPr>
              <a:t>30</a:t>
            </a:r>
            <a:r>
              <a:rPr lang="en-US" sz="1400" i="1" dirty="0">
                <a:latin typeface="Arial" panose="020B0604020202020204" pitchFamily="34" charset="0"/>
              </a:rPr>
              <a:t>, </a:t>
            </a:r>
            <a:r>
              <a:rPr lang="en-US" sz="1400" baseline="30000" dirty="0">
                <a:latin typeface="Arial" panose="020B0604020202020204" pitchFamily="34" charset="0"/>
              </a:rPr>
              <a:t>2</a:t>
            </a:r>
            <a:r>
              <a:rPr lang="en-US" sz="1400" i="1" dirty="0">
                <a:latin typeface="Arial" panose="020B0604020202020204" pitchFamily="34" charset="0"/>
              </a:rPr>
              <a:t>A</a:t>
            </a:r>
            <a:r>
              <a:rPr lang="en-US" sz="1400" baseline="-25000" dirty="0">
                <a:latin typeface="Arial" panose="020B0604020202020204" pitchFamily="34" charset="0"/>
              </a:rPr>
              <a:t>30</a:t>
            </a:r>
            <a:r>
              <a:rPr lang="en-US" sz="1400" i="1" dirty="0">
                <a:latin typeface="Arial" panose="020B0604020202020204" pitchFamily="34" charset="0"/>
              </a:rPr>
              <a:t>, </a:t>
            </a:r>
            <a:r>
              <a:rPr lang="en-US" sz="1400" dirty="0">
                <a:latin typeface="Arial" panose="020B0604020202020204" pitchFamily="34" charset="0"/>
              </a:rPr>
              <a:t>and </a:t>
            </a:r>
            <a:r>
              <a:rPr lang="en-US" sz="1400" i="1" dirty="0" err="1">
                <a:latin typeface="Arial" panose="020B0604020202020204" pitchFamily="34" charset="0"/>
              </a:rPr>
              <a:t>Var</a:t>
            </a:r>
            <a:r>
              <a:rPr lang="en-US" sz="1400" dirty="0">
                <a:latin typeface="Arial" panose="020B0604020202020204" pitchFamily="34" charset="0"/>
              </a:rPr>
              <a:t>(</a:t>
            </a:r>
            <a:r>
              <a:rPr lang="en-US" sz="1400" i="1" dirty="0">
                <a:latin typeface="Arial" panose="020B0604020202020204" pitchFamily="34" charset="0"/>
              </a:rPr>
              <a:t>Z</a:t>
            </a:r>
            <a:r>
              <a:rPr lang="en-US" sz="1400" baseline="-25000" dirty="0">
                <a:latin typeface="Arial" panose="020B0604020202020204" pitchFamily="34" charset="0"/>
              </a:rPr>
              <a:t>30</a:t>
            </a:r>
            <a:r>
              <a:rPr lang="en-US" sz="1400" dirty="0">
                <a:latin typeface="Arial" panose="020B0604020202020204" pitchFamily="34" charset="0"/>
              </a:rPr>
              <a:t>) if </a:t>
            </a:r>
            <a:r>
              <a:rPr lang="en-US" sz="1400" i="1" dirty="0">
                <a:latin typeface="Arial" panose="020B0604020202020204" pitchFamily="34" charset="0"/>
              </a:rPr>
              <a:t>δ </a:t>
            </a:r>
            <a:r>
              <a:rPr lang="en-US" sz="1400" dirty="0">
                <a:latin typeface="Arial" panose="020B0604020202020204" pitchFamily="34" charset="0"/>
              </a:rPr>
              <a:t>= 0</a:t>
            </a:r>
            <a:r>
              <a:rPr lang="en-US" sz="1400" i="1" dirty="0">
                <a:latin typeface="Arial" panose="020B0604020202020204" pitchFamily="34" charset="0"/>
              </a:rPr>
              <a:t>.</a:t>
            </a:r>
            <a:r>
              <a:rPr lang="en-US" sz="1400" dirty="0">
                <a:latin typeface="Arial" panose="020B0604020202020204" pitchFamily="34" charset="0"/>
              </a:rPr>
              <a:t>05</a:t>
            </a:r>
            <a:r>
              <a:rPr lang="en-US" sz="1400" i="1" dirty="0">
                <a:latin typeface="Arial" panose="020B0604020202020204" pitchFamily="34" charset="0"/>
              </a:rPr>
              <a:t>.</a:t>
            </a:r>
            <a:endParaRPr lang="en-US" sz="1400" dirty="0">
              <a:latin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8202" y="2347289"/>
            <a:ext cx="4022747" cy="29452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6593" y="5558106"/>
            <a:ext cx="3288882" cy="32888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72922" y="435143"/>
            <a:ext cx="53383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solidFill>
                  <a:srgbClr val="990033"/>
                </a:solidFill>
                <a:latin typeface="Arial" panose="020B0604020202020204" pitchFamily="34" charset="0"/>
              </a:rPr>
              <a:t>Whole Life Insurance  </a:t>
            </a:r>
            <a:r>
              <a:rPr lang="en-US" sz="1400" b="1" dirty="0">
                <a:solidFill>
                  <a:srgbClr val="990033"/>
                </a:solidFill>
                <a:latin typeface="Arial" panose="020B0604020202020204" pitchFamily="34" charset="0"/>
              </a:rPr>
              <a:t>payable at the end of the year of death</a:t>
            </a:r>
            <a:endParaRPr lang="en-US" sz="1400" b="1" dirty="0">
              <a:solidFill>
                <a:srgbClr val="990033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933642" y="430304"/>
            <a:ext cx="53383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solidFill>
                  <a:srgbClr val="990033"/>
                </a:solidFill>
                <a:latin typeface="Arial" panose="020B0604020202020204" pitchFamily="34" charset="0"/>
              </a:rPr>
              <a:t>Whole Life Insurance  </a:t>
            </a:r>
            <a:r>
              <a:rPr lang="en-US" sz="1400" b="1" dirty="0">
                <a:solidFill>
                  <a:srgbClr val="990033"/>
                </a:solidFill>
                <a:latin typeface="Arial" panose="020B0604020202020204" pitchFamily="34" charset="0"/>
              </a:rPr>
              <a:t>payable at the end of the year of death</a:t>
            </a:r>
            <a:endParaRPr lang="en-US" sz="1400" b="1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2411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2985" y="1593241"/>
            <a:ext cx="551252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smtClean="0">
                <a:latin typeface="Arial" panose="020B0604020202020204" pitchFamily="34" charset="0"/>
              </a:rPr>
              <a:t>That is, a </a:t>
            </a:r>
            <a:r>
              <a:rPr lang="en-US" sz="1400" dirty="0">
                <a:latin typeface="Arial" panose="020B0604020202020204" pitchFamily="34" charset="0"/>
              </a:rPr>
              <a:t>t</a:t>
            </a:r>
            <a:r>
              <a:rPr lang="en-US" sz="1400" u="sng" dirty="0">
                <a:latin typeface="Arial" panose="020B0604020202020204" pitchFamily="34" charset="0"/>
              </a:rPr>
              <a:t>erm (or temporary) assurance </a:t>
            </a:r>
            <a:r>
              <a:rPr lang="en-US" sz="1400" dirty="0">
                <a:latin typeface="Arial" panose="020B0604020202020204" pitchFamily="34" charset="0"/>
              </a:rPr>
              <a:t>contract pays a sum assured </a:t>
            </a:r>
            <a:r>
              <a:rPr lang="en-US" sz="1400" dirty="0" smtClean="0">
                <a:latin typeface="Arial" panose="020B0604020202020204" pitchFamily="34" charset="0"/>
              </a:rPr>
              <a:t>on </a:t>
            </a:r>
            <a:r>
              <a:rPr lang="en-US" sz="1400" dirty="0">
                <a:latin typeface="Arial" panose="020B0604020202020204" pitchFamily="34" charset="0"/>
              </a:rPr>
              <a:t>the death of (x</a:t>
            </a:r>
            <a:r>
              <a:rPr lang="en-US" sz="1400" dirty="0" smtClean="0">
                <a:latin typeface="Arial" panose="020B0604020202020204" pitchFamily="34" charset="0"/>
              </a:rPr>
              <a:t>) within </a:t>
            </a:r>
            <a:r>
              <a:rPr lang="en-US" sz="1400" dirty="0">
                <a:latin typeface="Arial" panose="020B0604020202020204" pitchFamily="34" charset="0"/>
              </a:rPr>
              <a:t>the term of the policy, which we usually write as </a:t>
            </a:r>
            <a:r>
              <a:rPr lang="en-US" sz="1400" i="1" dirty="0">
                <a:latin typeface="Arial" panose="020B0604020202020204" pitchFamily="34" charset="0"/>
              </a:rPr>
              <a:t>n</a:t>
            </a:r>
            <a:r>
              <a:rPr lang="en-US" sz="1400" dirty="0">
                <a:latin typeface="Arial" panose="020B0604020202020204" pitchFamily="34" charset="0"/>
              </a:rPr>
              <a:t> years. </a:t>
            </a:r>
            <a:endParaRPr lang="en-US" sz="1400" dirty="0" smtClean="0">
              <a:latin typeface="Arial" panose="020B0604020202020204" pitchFamily="34" charset="0"/>
            </a:endParaRPr>
          </a:p>
          <a:p>
            <a:pPr algn="just"/>
            <a:endParaRPr lang="en-US" sz="1400" dirty="0"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02985" y="292129"/>
            <a:ext cx="56528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latin typeface="Arial" panose="020B0604020202020204" pitchFamily="34" charset="0"/>
              </a:rPr>
              <a:t>II. Term </a:t>
            </a:r>
            <a:r>
              <a:rPr lang="en-US" sz="1600" b="1" dirty="0">
                <a:latin typeface="Arial" panose="020B0604020202020204" pitchFamily="34" charset="0"/>
              </a:rPr>
              <a:t>(or temporary) </a:t>
            </a:r>
            <a:r>
              <a:rPr lang="en-US" sz="1600" b="1" dirty="0" smtClean="0">
                <a:latin typeface="Arial" panose="020B0604020202020204" pitchFamily="34" charset="0"/>
              </a:rPr>
              <a:t>assurance/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Term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life insurance </a:t>
            </a:r>
            <a:endParaRPr lang="en-US" sz="16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947" y="1426011"/>
            <a:ext cx="3495675" cy="76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9338" y="704759"/>
            <a:ext cx="55761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n-year</a:t>
            </a:r>
            <a:r>
              <a:rPr lang="en-US" sz="1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term life insurance is a policy where the </a:t>
            </a:r>
            <a:r>
              <a:rPr lang="en-US" sz="1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payment is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made only when the insured person dies within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years of the </a:t>
            </a:r>
            <a:r>
              <a:rPr lang="en-US" sz="1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policy's issue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. That is, if the insured survives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years, no </a:t>
            </a:r>
            <a:r>
              <a:rPr lang="en-US" sz="1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benefit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is paid.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9338" y="4625837"/>
            <a:ext cx="573912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payout from a unit-benefit </a:t>
            </a:r>
            <a:r>
              <a:rPr lang="en-US" sz="1600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n-year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term life insurance is illustrated in the following diagram.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377" y="5753518"/>
            <a:ext cx="6049903" cy="97265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42688" y="5287427"/>
            <a:ext cx="152128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Death occurs here:</a:t>
            </a: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Pay GH</a:t>
            </a:r>
            <a:r>
              <a:rPr lang="en-US" sz="1100" dirty="0" smtClean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₵</a:t>
            </a:r>
            <a:r>
              <a:rPr lang="en-US" sz="11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 at the</a:t>
            </a: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moment of death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93557" y="5266902"/>
            <a:ext cx="152128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Death occurs here:</a:t>
            </a: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Pay nothing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51751" y="788518"/>
            <a:ext cx="539060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Arial" panose="020B0604020202020204" pitchFamily="34" charset="0"/>
              </a:rPr>
              <a:t>If the benefit is payable immediately on death, the present value (as a random variable) is</a:t>
            </a:r>
            <a:endParaRPr lang="en-US" sz="1400" dirty="0"/>
          </a:p>
        </p:txBody>
      </p:sp>
      <p:sp>
        <p:nvSpPr>
          <p:cNvPr id="12" name="Rectangle 11"/>
          <p:cNvSpPr/>
          <p:nvPr/>
        </p:nvSpPr>
        <p:spPr>
          <a:xfrm>
            <a:off x="6306671" y="366205"/>
            <a:ext cx="50453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n-year</a:t>
            </a:r>
            <a:r>
              <a:rPr lang="en-US" sz="1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term insurance </a:t>
            </a:r>
            <a:r>
              <a:rPr lang="en-US" sz="14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payable </a:t>
            </a:r>
            <a:r>
              <a:rPr lang="en-US" sz="1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immediately on the death </a:t>
            </a:r>
            <a:endParaRPr lang="en-US" sz="1400" b="1" dirty="0">
              <a:solidFill>
                <a:srgbClr val="0000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354184" y="2401468"/>
            <a:ext cx="55841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The expected value of Z, sometimes referred to as the actuarial present value (APV) and denoted by          is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306671" y="4545528"/>
            <a:ext cx="577966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In actuarial notation, 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The bar above the </a:t>
            </a:r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denotes that the benefit is payable immediately on death,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The ‘1’ above the </a:t>
            </a:r>
            <a:r>
              <a:rPr lang="en-US" sz="1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indicates that for the benefit to be paid the life must die before the end of the 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n-year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term. 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subscript     indicates that coverage is provided for at most </a:t>
            </a:r>
            <a:r>
              <a:rPr lang="en-US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years.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3719" y="5919416"/>
            <a:ext cx="304800" cy="31432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02985" y="2379351"/>
            <a:ext cx="5652898" cy="92333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Consider an </a:t>
            </a:r>
            <a:r>
              <a:rPr lang="en-US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n-year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term insurance with unit benefit payable immediately on the death of an individual. If the individual is currently aged x, the benefit will be paid in </a:t>
            </a:r>
            <a:r>
              <a:rPr lang="en-US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4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years given </a:t>
            </a:r>
            <a:r>
              <a:rPr lang="en-US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4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≤ </a:t>
            </a:r>
            <a:r>
              <a:rPr lang="en-US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, therefore, to get the present value of a unit benefit the payment must be discounted by </a:t>
            </a:r>
            <a:r>
              <a:rPr lang="en-US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4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years. 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47012" y="3479480"/>
            <a:ext cx="26516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 benefit function is given by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6104" y="3905329"/>
            <a:ext cx="1654114" cy="7164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6425234" y="2904014"/>
                <a:ext cx="5334281" cy="6925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limLoc m:val="subSup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Pre>
                                    <m:sPrePr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PrePr>
                                    <m:sub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/>
                                    <m:e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sPre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5234" y="2904014"/>
                <a:ext cx="5334281" cy="6925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425234" y="3669061"/>
                <a:ext cx="4913268" cy="6925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limLoc m:val="subSup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Pre>
                                    <m:sPrePr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PrePr>
                                    <m:sub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/>
                                    <m:e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sPre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5234" y="3669061"/>
                <a:ext cx="4913268" cy="6925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9293899" y="2567386"/>
                <a:ext cx="546787" cy="3699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3899" y="2567386"/>
                <a:ext cx="546787" cy="369909"/>
              </a:xfrm>
              <a:prstGeom prst="rect">
                <a:avLst/>
              </a:prstGeom>
              <a:blipFill>
                <a:blip r:embed="rId8"/>
                <a:stretch>
                  <a:fillRect r="-11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525889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268632" y="1042228"/>
            <a:ext cx="30604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policy satisfies the criterion that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68576" y="1464018"/>
            <a:ext cx="20329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>
                <a:effectLst/>
                <a:latin typeface="Times New Roman" panose="02020603050405020304" pitchFamily="18" charset="0"/>
              </a:rPr>
              <a:t>b</a:t>
            </a:r>
            <a:r>
              <a:rPr lang="en-US" i="1" baseline="-25000" dirty="0" smtClean="0">
                <a:latin typeface="Times New Roman" panose="02020603050405020304" pitchFamily="18" charset="0"/>
              </a:rPr>
              <a:t>Tx</a:t>
            </a:r>
            <a:r>
              <a:rPr lang="en-US" i="1" dirty="0" smtClean="0">
                <a:latin typeface="Times New Roman" panose="02020603050405020304" pitchFamily="18" charset="0"/>
              </a:rPr>
              <a:t> </a:t>
            </a:r>
            <a:r>
              <a:rPr lang="en-US" dirty="0">
                <a:latin typeface="Arial" panose="020B0604020202020204" pitchFamily="34" charset="0"/>
              </a:rPr>
              <a:t>= </a:t>
            </a:r>
            <a:r>
              <a:rPr lang="en-US" sz="2000" dirty="0" smtClean="0">
                <a:latin typeface="Times New Roman" panose="02020603050405020304" pitchFamily="18" charset="0"/>
              </a:rPr>
              <a:t>0</a:t>
            </a:r>
            <a:r>
              <a:rPr lang="en-US" sz="20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1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for all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6758" y="2084562"/>
            <a:ext cx="35349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E(Z</a:t>
            </a: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 is E(Z) evaluated at 2δ is applicable </a:t>
            </a:r>
            <a:endParaRPr lang="en-US" sz="1400" dirty="0"/>
          </a:p>
        </p:txBody>
      </p:sp>
      <p:sp>
        <p:nvSpPr>
          <p:cNvPr id="18" name="Rectangle 17"/>
          <p:cNvSpPr/>
          <p:nvPr/>
        </p:nvSpPr>
        <p:spPr>
          <a:xfrm>
            <a:off x="481175" y="2803365"/>
            <a:ext cx="14686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Hence, we have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898" y="2714365"/>
            <a:ext cx="1352550" cy="48577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06427" y="3360297"/>
            <a:ext cx="25907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That is            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evaluated at </a:t>
            </a:r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2δ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511" y="3326145"/>
            <a:ext cx="495300" cy="40957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59" y="3905705"/>
            <a:ext cx="2238375" cy="485775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78837" y="426896"/>
            <a:ext cx="50453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n-year</a:t>
            </a:r>
            <a:r>
              <a:rPr lang="en-US" sz="1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term insurance </a:t>
            </a:r>
            <a:r>
              <a:rPr lang="en-US" sz="14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payable </a:t>
            </a:r>
            <a:r>
              <a:rPr lang="en-US" sz="1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immediately on the death </a:t>
            </a:r>
            <a:endParaRPr lang="en-US" sz="1400" b="1" dirty="0">
              <a:solidFill>
                <a:srgbClr val="0000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605065" y="709966"/>
            <a:ext cx="619504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age-at-death random variable is exponential with parameter 0.05. A life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aged 35 buys a 25-year life insurance policy that pays 1 upon death.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Assume an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annual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effective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interest rate of 7%,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find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actuarial present value of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this policy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5521234" y="382599"/>
            <a:ext cx="9220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Example</a:t>
            </a:r>
            <a:endParaRPr lang="en-US" sz="1400" dirty="0"/>
          </a:p>
        </p:txBody>
      </p:sp>
      <p:sp>
        <p:nvSpPr>
          <p:cNvPr id="14" name="Rectangle 13"/>
          <p:cNvSpPr/>
          <p:nvPr/>
        </p:nvSpPr>
        <p:spPr>
          <a:xfrm>
            <a:off x="5605065" y="1701756"/>
            <a:ext cx="8996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latin typeface="Arial" panose="020B0604020202020204" pitchFamily="34" charset="0"/>
              </a:rPr>
              <a:t>Solution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5605065" y="3113523"/>
                <a:ext cx="2518125" cy="7190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sub>
                        <m:sup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sup>
                        <m:e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baseline="300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35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065" y="3113523"/>
                <a:ext cx="2518125" cy="7190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632525" y="1931755"/>
            <a:ext cx="36567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actuarial present value of this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policy is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5605065" y="2128734"/>
                <a:ext cx="4769575" cy="6925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  <m: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limLoc m:val="subSup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065" y="2128734"/>
                <a:ext cx="4769575" cy="6925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5760406" y="2745042"/>
            <a:ext cx="26917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Given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x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= 35,   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= 25 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=0.07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632525" y="4411130"/>
                <a:ext cx="3996607" cy="4222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35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35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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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0">
                          <a:latin typeface="Cambria Math" panose="02040503050406030204" pitchFamily="18" charset="0"/>
                        </a:rPr>
                        <m:t>=0.05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−0.05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2525" y="4411130"/>
                <a:ext cx="3996607" cy="422231"/>
              </a:xfrm>
              <a:prstGeom prst="rect">
                <a:avLst/>
              </a:prstGeom>
              <a:blipFill>
                <a:blip r:embed="rId7"/>
                <a:stretch>
                  <a:fillRect b="-11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5686551" y="3871746"/>
            <a:ext cx="26324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Pdf of exponential distribution  </a:t>
            </a:r>
            <a:endParaRPr lang="en-US" sz="140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1337" y="3748808"/>
            <a:ext cx="1981200" cy="4471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5814777" y="5817625"/>
                <a:ext cx="5695918" cy="7190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35:25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25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1.07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−0.05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(1.05)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i="0">
                          <a:latin typeface="Cambria Math" panose="02040503050406030204" pitchFamily="18" charset="0"/>
                        </a:rPr>
                        <m:t>=0.4025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4777" y="5817625"/>
                <a:ext cx="5695918" cy="7190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/>
          <p:cNvSpPr/>
          <p:nvPr/>
        </p:nvSpPr>
        <p:spPr>
          <a:xfrm>
            <a:off x="5814777" y="5531126"/>
            <a:ext cx="21948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On substitution we obtain</a:t>
            </a:r>
            <a:endParaRPr lang="en-US" sz="1400" dirty="0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98021" y="4911395"/>
            <a:ext cx="1648087" cy="50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9472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13565" y="3006747"/>
            <a:ext cx="537318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We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should expect E(Z)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for a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term life insurance to be the same as that for a whole life insurance, except that the upper limit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of the summation is no longer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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0925" y="378053"/>
            <a:ext cx="52272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solidFill>
                  <a:srgbClr val="990033"/>
                </a:solidFill>
                <a:latin typeface="Arial" panose="020B0604020202020204" pitchFamily="34" charset="0"/>
              </a:rPr>
              <a:t>Term Life Insurance payable </a:t>
            </a:r>
            <a:r>
              <a:rPr lang="en-US" sz="1400" b="1" dirty="0">
                <a:solidFill>
                  <a:srgbClr val="990033"/>
                </a:solidFill>
                <a:latin typeface="Arial" panose="020B0604020202020204" pitchFamily="34" charset="0"/>
              </a:rPr>
              <a:t>at the end of the year of death</a:t>
            </a:r>
            <a:endParaRPr lang="en-US" sz="1400" b="1" dirty="0">
              <a:solidFill>
                <a:srgbClr val="990033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30925" y="898973"/>
            <a:ext cx="537318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If the sum assured is payable at the end of year of death (if this occurs within the </a:t>
            </a:r>
            <a:r>
              <a:rPr lang="en-US" sz="1400" i="1" dirty="0">
                <a:latin typeface="Arial" panose="020B0604020202020204" pitchFamily="34" charset="0"/>
              </a:rPr>
              <a:t>n</a:t>
            </a:r>
            <a:r>
              <a:rPr lang="en-US" sz="1400" dirty="0">
                <a:latin typeface="Arial" panose="020B0604020202020204" pitchFamily="34" charset="0"/>
              </a:rPr>
              <a:t> year term), </a:t>
            </a:r>
            <a:r>
              <a:rPr lang="en-US" sz="1400" dirty="0" smtClean="0">
                <a:latin typeface="Arial" panose="020B0604020202020204" pitchFamily="34" charset="0"/>
              </a:rPr>
              <a:t>we have the present value</a:t>
            </a:r>
            <a:endParaRPr lang="en-US" sz="1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57" y="2560726"/>
            <a:ext cx="5436468" cy="163639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04650" y="4434670"/>
            <a:ext cx="562573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From the diagram above, you can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see that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summation should run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–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7308" y="5156920"/>
            <a:ext cx="492955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Hence,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for a unit-benefit term life insurance is given by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963540" y="1434249"/>
                <a:ext cx="2258632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&amp;0       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540" y="1434249"/>
                <a:ext cx="2258632" cy="7101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6213565" y="378052"/>
            <a:ext cx="52272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solidFill>
                  <a:srgbClr val="990033"/>
                </a:solidFill>
                <a:latin typeface="Arial" panose="020B0604020202020204" pitchFamily="34" charset="0"/>
              </a:rPr>
              <a:t>Term Life Insurance payable </a:t>
            </a:r>
            <a:r>
              <a:rPr lang="en-US" sz="1400" b="1" dirty="0">
                <a:solidFill>
                  <a:srgbClr val="990033"/>
                </a:solidFill>
                <a:latin typeface="Arial" panose="020B0604020202020204" pitchFamily="34" charset="0"/>
              </a:rPr>
              <a:t>at the end of the year of death</a:t>
            </a:r>
            <a:endParaRPr lang="en-US" sz="1400" b="1" dirty="0">
              <a:solidFill>
                <a:srgbClr val="990033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329961" y="1824620"/>
            <a:ext cx="16834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We denote E(Z) by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9016" y="1759433"/>
            <a:ext cx="428625" cy="43815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213565" y="4018147"/>
            <a:ext cx="5704115" cy="113877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As before,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     indicates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that this policy will last for at most n years, 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 above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indicates that the policy is a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term life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insurance. 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There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is no bar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above 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because the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policy is discrete rather than continuous.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139059" y="5513091"/>
                <a:ext cx="2314095" cy="8707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nary>
                      <m:sPre>
                        <m:sPre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|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sPre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059" y="5513091"/>
                <a:ext cx="2314095" cy="8707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967276" y="710257"/>
                <a:ext cx="2771143" cy="8707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nary>
                      <m:sPre>
                        <m:sPre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sPre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276" y="710257"/>
                <a:ext cx="2771143" cy="8707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7642387" y="2270431"/>
                <a:ext cx="2219454" cy="8707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nary>
                      <m:sPre>
                        <m:sPre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sPre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2387" y="2270431"/>
                <a:ext cx="2219454" cy="8707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872" y="2384863"/>
            <a:ext cx="539402" cy="551389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1173" y="4022230"/>
            <a:ext cx="304800" cy="314325"/>
          </a:xfrm>
          <a:prstGeom prst="rect">
            <a:avLst/>
          </a:prstGeom>
          <a:solidFill>
            <a:srgbClr val="FFFF00"/>
          </a:solidFill>
        </p:spPr>
      </p:pic>
      <p:sp>
        <p:nvSpPr>
          <p:cNvPr id="26" name="Rectangle 25"/>
          <p:cNvSpPr/>
          <p:nvPr/>
        </p:nvSpPr>
        <p:spPr>
          <a:xfrm>
            <a:off x="6213565" y="5235907"/>
            <a:ext cx="347402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E(Z</a:t>
            </a: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 is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the same as E(Z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 evaluated at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2δ</a:t>
            </a:r>
            <a:endParaRPr lang="en-US" sz="1400" dirty="0"/>
          </a:p>
        </p:txBody>
      </p:sp>
      <p:sp>
        <p:nvSpPr>
          <p:cNvPr id="27" name="Rectangle 26"/>
          <p:cNvSpPr/>
          <p:nvPr/>
        </p:nvSpPr>
        <p:spPr>
          <a:xfrm>
            <a:off x="6213565" y="5618081"/>
            <a:ext cx="14686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Hence, we have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1948" y="5543684"/>
            <a:ext cx="504825" cy="428625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7684859" y="5587304"/>
            <a:ext cx="8370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E(Z</a:t>
            </a:r>
            <a:r>
              <a:rPr lang="en-US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endParaRPr lang="en-US" sz="16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61060" y="6164767"/>
            <a:ext cx="2105025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98869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06" y="1331210"/>
            <a:ext cx="5795041" cy="76755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11106" y="961878"/>
            <a:ext cx="107112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latin typeface="Arial" panose="020B0604020202020204" pitchFamily="34" charset="0"/>
              </a:rPr>
              <a:t>Example 1</a:t>
            </a:r>
            <a:endParaRPr lang="en-US" sz="1400" dirty="0">
              <a:latin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342" y="3238052"/>
            <a:ext cx="4237324" cy="221409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416" y="5652447"/>
            <a:ext cx="3268673" cy="37794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11106" y="2180219"/>
            <a:ext cx="20040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For this problem, recall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180" y="2423564"/>
            <a:ext cx="1394969" cy="40686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11106" y="2830430"/>
            <a:ext cx="10910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We have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9404" y="465555"/>
            <a:ext cx="52272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solidFill>
                  <a:srgbClr val="990033"/>
                </a:solidFill>
                <a:latin typeface="Arial" panose="020B0604020202020204" pitchFamily="34" charset="0"/>
              </a:rPr>
              <a:t>Term Life Insurance payable </a:t>
            </a:r>
            <a:r>
              <a:rPr lang="en-US" sz="1400" b="1" dirty="0">
                <a:solidFill>
                  <a:srgbClr val="990033"/>
                </a:solidFill>
                <a:latin typeface="Arial" panose="020B0604020202020204" pitchFamily="34" charset="0"/>
              </a:rPr>
              <a:t>at the end of the year of death</a:t>
            </a:r>
            <a:endParaRPr lang="en-US" sz="1400" b="1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843509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97011" y="3262878"/>
            <a:ext cx="26052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Arial Narrow" panose="020B0606020202030204" pitchFamily="34" charset="0"/>
              </a:rPr>
              <a:t>The A</a:t>
            </a:r>
            <a:r>
              <a:rPr lang="en-US" sz="1400" dirty="0" smtClean="0">
                <a:latin typeface="Arial Narrow" panose="020B0606020202030204" pitchFamily="34" charset="0"/>
              </a:rPr>
              <a:t>PV </a:t>
            </a:r>
            <a:r>
              <a:rPr lang="en-US" sz="1400" dirty="0">
                <a:latin typeface="Arial Narrow" panose="020B0606020202030204" pitchFamily="34" charset="0"/>
              </a:rPr>
              <a:t>of a unit benefit is therefore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653171" y="3570655"/>
                <a:ext cx="3542445" cy="7190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  <m:sup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3171" y="3570655"/>
                <a:ext cx="3542445" cy="7190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843920" y="635716"/>
            <a:ext cx="50781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latin typeface="Arial Narrow" panose="020B0606020202030204" pitchFamily="34" charset="0"/>
                <a:cs typeface="Arial" panose="020B0604020202020204" pitchFamily="34" charset="0"/>
              </a:rPr>
              <a:t>Since we have not been given the force of mortality, it is much easier to compute the </a:t>
            </a:r>
            <a:r>
              <a:rPr lang="en-US" sz="16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APV </a:t>
            </a:r>
            <a:r>
              <a:rPr lang="en-US" sz="1600" dirty="0">
                <a:latin typeface="Arial Narrow" panose="020B0606020202030204" pitchFamily="34" charset="0"/>
                <a:cs typeface="Arial" panose="020B0604020202020204" pitchFamily="34" charset="0"/>
              </a:rPr>
              <a:t>of the </a:t>
            </a:r>
            <a:r>
              <a:rPr lang="en-US" sz="16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benefit using </a:t>
            </a:r>
            <a:r>
              <a:rPr lang="en-US" sz="1600" dirty="0">
                <a:latin typeface="Arial Narrow" panose="020B0606020202030204" pitchFamily="34" charset="0"/>
                <a:cs typeface="Arial" panose="020B0604020202020204" pitchFamily="34" charset="0"/>
              </a:rPr>
              <a:t>the formula involving the density, where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383" y="1489265"/>
            <a:ext cx="2247900" cy="6191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8326010" y="2232691"/>
                <a:ext cx="1761251" cy="6752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Pre>
                                <m:sPre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PrePr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/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sPre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6010" y="2232691"/>
                <a:ext cx="1761251" cy="6752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7033243" y="2361576"/>
            <a:ext cx="65114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16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Recall</a:t>
            </a:r>
            <a:endParaRPr lang="en-US" sz="16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5944" y="473915"/>
            <a:ext cx="54863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 Narrow" panose="020B0606020202030204" pitchFamily="34" charset="0"/>
              </a:rPr>
              <a:t>An individual currently aged 40 purchases a 15-year term insurance that pays a benefit </a:t>
            </a:r>
            <a:r>
              <a:rPr lang="en-US" sz="1600" dirty="0" smtClean="0">
                <a:latin typeface="Arial Narrow" panose="020B0606020202030204" pitchFamily="34" charset="0"/>
              </a:rPr>
              <a:t>of GH</a:t>
            </a:r>
            <a:r>
              <a:rPr lang="en-US" sz="1600" dirty="0" smtClean="0">
                <a:latin typeface="Arial Narrow" panose="020B0606020202030204" pitchFamily="34" charset="0"/>
                <a:cs typeface="Calibri" panose="020F0502020204030204" pitchFamily="34" charset="0"/>
              </a:rPr>
              <a:t>₵</a:t>
            </a:r>
            <a:r>
              <a:rPr lang="en-US" sz="1600" dirty="0" smtClean="0">
                <a:latin typeface="Arial Narrow" panose="020B0606020202030204" pitchFamily="34" charset="0"/>
              </a:rPr>
              <a:t>50,000 </a:t>
            </a:r>
            <a:r>
              <a:rPr lang="en-US" sz="1600" dirty="0">
                <a:latin typeface="Arial Narrow" panose="020B0606020202030204" pitchFamily="34" charset="0"/>
              </a:rPr>
              <a:t>immediately on death. If the force of interest is δ= 0.05 and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5437" y="1234287"/>
            <a:ext cx="3438525" cy="5715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19964" y="1775162"/>
            <a:ext cx="53209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 Narrow" panose="020B0606020202030204" pitchFamily="34" charset="0"/>
              </a:rPr>
              <a:t>(</a:t>
            </a:r>
            <a:r>
              <a:rPr lang="en-US" sz="1600" dirty="0" err="1">
                <a:latin typeface="Arial Narrow" panose="020B0606020202030204" pitchFamily="34" charset="0"/>
              </a:rPr>
              <a:t>i</a:t>
            </a:r>
            <a:r>
              <a:rPr lang="en-US" sz="1600" dirty="0">
                <a:latin typeface="Arial Narrow" panose="020B0606020202030204" pitchFamily="34" charset="0"/>
              </a:rPr>
              <a:t>) Find the </a:t>
            </a:r>
            <a:r>
              <a:rPr lang="en-US" sz="1600" dirty="0" smtClean="0">
                <a:latin typeface="Arial Narrow" panose="020B0606020202030204" pitchFamily="34" charset="0"/>
              </a:rPr>
              <a:t>APV </a:t>
            </a:r>
            <a:r>
              <a:rPr lang="en-US" sz="1600" dirty="0">
                <a:latin typeface="Arial Narrow" panose="020B0606020202030204" pitchFamily="34" charset="0"/>
              </a:rPr>
              <a:t>of the death benefit.</a:t>
            </a:r>
          </a:p>
          <a:p>
            <a:r>
              <a:rPr lang="en-US" sz="1600" dirty="0">
                <a:latin typeface="Arial Narrow" panose="020B0606020202030204" pitchFamily="34" charset="0"/>
              </a:rPr>
              <a:t>(ii) Find the standard deviation of the present value random variable.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516" y="4988651"/>
            <a:ext cx="4762365" cy="66021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23516" y="5885743"/>
            <a:ext cx="200888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rial Narrow" panose="020B0606020202030204" pitchFamily="34" charset="0"/>
              </a:rPr>
              <a:t>Hence for a life aged 40,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3059" y="5736573"/>
            <a:ext cx="1438275" cy="62865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77697" y="2719988"/>
            <a:ext cx="220638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 Narrow" panose="020B0606020202030204" pitchFamily="34" charset="0"/>
              </a:rPr>
              <a:t>(</a:t>
            </a:r>
            <a:r>
              <a:rPr lang="en-US" sz="1400" dirty="0" err="1">
                <a:latin typeface="Arial Narrow" panose="020B0606020202030204" pitchFamily="34" charset="0"/>
              </a:rPr>
              <a:t>i</a:t>
            </a:r>
            <a:r>
              <a:rPr lang="en-US" sz="1400" dirty="0">
                <a:latin typeface="Arial Narrow" panose="020B0606020202030204" pitchFamily="34" charset="0"/>
              </a:rPr>
              <a:t>) </a:t>
            </a:r>
            <a:r>
              <a:rPr lang="en-US" sz="1400" dirty="0" smtClean="0">
                <a:latin typeface="Arial Narrow" panose="020B0606020202030204" pitchFamily="34" charset="0"/>
              </a:rPr>
              <a:t>The APV to be calculated is  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577697" y="2961448"/>
                <a:ext cx="5318571" cy="6494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  <m:sup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limLoc m:val="subSup"/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Pre>
                                    <m:sPrePr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PrePr>
                                    <m:sub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/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sPre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40</m:t>
                                  </m:r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97" y="2961448"/>
                <a:ext cx="5318571" cy="64947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569841" y="4059214"/>
                <a:ext cx="5334281" cy="6925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limLoc m:val="subSup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Pre>
                                    <m:sPrePr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PrePr>
                                    <m:sub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/>
                                    <m:e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sPre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41" y="4059214"/>
                <a:ext cx="5334281" cy="69256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685448" y="3698492"/>
            <a:ext cx="9444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Arial Narrow" panose="020B0606020202030204" pitchFamily="34" charset="0"/>
              </a:rPr>
              <a:t>By applying</a:t>
            </a:r>
            <a:endParaRPr lang="en-US" sz="1400" dirty="0"/>
          </a:p>
        </p:txBody>
      </p:sp>
      <p:sp>
        <p:nvSpPr>
          <p:cNvPr id="20" name="Rectangle 19"/>
          <p:cNvSpPr/>
          <p:nvPr/>
        </p:nvSpPr>
        <p:spPr>
          <a:xfrm>
            <a:off x="519964" y="185318"/>
            <a:ext cx="9220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 smtClean="0">
                <a:latin typeface="Arial" panose="020B0604020202020204" pitchFamily="34" charset="0"/>
              </a:rPr>
              <a:t>Example</a:t>
            </a:r>
            <a:endParaRPr lang="en-US" sz="1400" dirty="0">
              <a:latin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91789" y="2445640"/>
            <a:ext cx="8996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 smtClean="0">
                <a:latin typeface="Arial" panose="020B0604020202020204" pitchFamily="34" charset="0"/>
              </a:rPr>
              <a:t>Solution</a:t>
            </a:r>
            <a:endParaRPr lang="en-US" sz="1400" dirty="0">
              <a:latin typeface="Arial" panose="020B0604020202020204" pitchFamily="34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6286" y="4442213"/>
            <a:ext cx="3333750" cy="6191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812112" y="4505723"/>
                <a:ext cx="829010" cy="3781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  <m:sup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112" y="4505723"/>
                <a:ext cx="829010" cy="378117"/>
              </a:xfrm>
              <a:prstGeom prst="rect">
                <a:avLst/>
              </a:prstGeom>
              <a:blipFill>
                <a:blip r:embed="rId11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06286" y="5160247"/>
            <a:ext cx="269557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09266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467138"/>
            <a:ext cx="57737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However, since the policy pays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GH</a:t>
            </a:r>
            <a:r>
              <a:rPr lang="en-US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₵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50,000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on death, the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APV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of the benefit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892" y="1155820"/>
            <a:ext cx="52164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GH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₵ </a:t>
            </a:r>
            <a:r>
              <a:rPr lang="pt-B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50,000              =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GH</a:t>
            </a:r>
            <a:r>
              <a:rPr lang="en-US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₵</a:t>
            </a:r>
            <a:r>
              <a:rPr lang="pt-B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50,000 × 0.1759 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GH</a:t>
            </a:r>
            <a:r>
              <a:rPr lang="en-US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₵</a:t>
            </a:r>
            <a:r>
              <a:rPr lang="pt-B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8,793.89</a:t>
            </a:r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552134" y="1050644"/>
                <a:ext cx="829010" cy="3781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  <m:sup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2134" y="1050644"/>
                <a:ext cx="829010" cy="378117"/>
              </a:xfrm>
              <a:prstGeom prst="rect">
                <a:avLst/>
              </a:prstGeom>
              <a:blipFill>
                <a:blip r:embed="rId2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304800" y="1533937"/>
            <a:ext cx="57737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Using the rule of moments, the second moment of the present value random variable is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011" y="2057157"/>
            <a:ext cx="3286125" cy="6477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04800" y="2854123"/>
            <a:ext cx="57737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When finding the variance we need to make sure we find it for the total benefit and not just a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unit benefit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92" y="3650434"/>
            <a:ext cx="544830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97825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1589" y="222823"/>
            <a:ext cx="25553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III.  Pure Endowment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6225" y="727591"/>
            <a:ext cx="5753100" cy="86177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400" i="1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US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n-year</a:t>
            </a:r>
            <a:r>
              <a:rPr lang="en-US" sz="1400" i="1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pure endowment provides a payment at the end of n years if the policyholder survives, but makes no payment if the policyholder dies within </a:t>
            </a:r>
            <a:r>
              <a:rPr lang="en-US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i="1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years. </a:t>
            </a: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6225" y="1615747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we assume the benefit amount is GH₵1. The payout from a unit benefit n-year pure endowment is illustrated in the diagram below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2887725"/>
            <a:ext cx="6096000" cy="95063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47724" y="2274403"/>
            <a:ext cx="15144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Death occurs here:</a:t>
            </a:r>
            <a:r>
              <a:rPr lang="en-US" sz="1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Pay nothing</a:t>
            </a:r>
            <a:endParaRPr 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895599" y="2239549"/>
            <a:ext cx="1752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Pay GH₵1 at time n if</a:t>
            </a:r>
            <a:r>
              <a:rPr lang="en-US" sz="1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policyholder is</a:t>
            </a:r>
            <a:r>
              <a:rPr lang="en-US" sz="1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alive at time n</a:t>
            </a:r>
            <a:endParaRPr 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52455" y="4024601"/>
            <a:ext cx="26516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benefit function is given by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2299" y="3720764"/>
            <a:ext cx="1714500" cy="10096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5740782"/>
            <a:ext cx="1666875" cy="81915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372225" y="1836625"/>
            <a:ext cx="44642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 denote E(</a:t>
            </a:r>
            <a:r>
              <a:rPr lang="en-US" sz="1400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for a unit-benefit pure endowment by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2287" y="1801233"/>
            <a:ext cx="447675" cy="40957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544290" y="2757090"/>
            <a:ext cx="5552459" cy="1877437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1 above        indicates that the policy is a pure endowment.(i.e.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for the benefit to be paid the term must expire before the life).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 do not write a bar above </a:t>
            </a:r>
            <a:r>
              <a:rPr lang="en-US" sz="1600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because the payment is made at time </a:t>
            </a:r>
            <a:r>
              <a:rPr lang="en-US" sz="1600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instead of time </a:t>
            </a:r>
            <a:r>
              <a:rPr lang="en-US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i="1" baseline="-250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as there only exists a discrete time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version)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9797" y="2817487"/>
            <a:ext cx="304800" cy="314325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272681" y="4638495"/>
            <a:ext cx="5957929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For an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n-year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pure endowment insurance a benefit is paid if the individual dies after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years, that is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≥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 Since the benefit is only ever paid after 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years, the present value random variable is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04350" y="356565"/>
            <a:ext cx="5445367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is a discrete random variable that takes only two values, 0 with probability 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i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with probability 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, therefore, the expected value of 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is given by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8948" y="2226997"/>
            <a:ext cx="447675" cy="4095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9986" y="2106041"/>
            <a:ext cx="2876550" cy="600075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7258874" y="2316958"/>
            <a:ext cx="28886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endParaRPr lang="en-US" sz="1400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2471" y="1301435"/>
            <a:ext cx="4128958" cy="394339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6432699" y="1284238"/>
            <a:ext cx="6848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6544289" y="4765162"/>
            <a:ext cx="5552459" cy="14619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There are two actuarial notations for the actuarial present value: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It may be denoted by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This notation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leads to a possibility of confusion between the term and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pure endowment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insurance policies. For this reason, the APV of the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pure endowment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insurance is often denoted by </a:t>
            </a:r>
            <a:r>
              <a:rPr lang="en-US" b="0" i="1" u="none" strike="noStrike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b="0" i="1" u="none" strike="noStrike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989797" y="6259984"/>
                <a:ext cx="2324354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 1</m:t>
                          </m:r>
                        </m:sup>
                      </m:sSubSup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Pre>
                            <m:sPre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sPre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Pre>
                        <m:sPre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sPre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797" y="6259984"/>
                <a:ext cx="2324354" cy="392993"/>
              </a:xfrm>
              <a:prstGeom prst="rect">
                <a:avLst/>
              </a:prstGeom>
              <a:blipFill>
                <a:blip r:embed="rId9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224068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93" y="1334899"/>
            <a:ext cx="2457450" cy="55211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00038" y="639418"/>
            <a:ext cx="53625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The second moment of Z can be calculated in the same way as for any discrete random variable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8" y="2503600"/>
            <a:ext cx="2876550" cy="6286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143" y="2104243"/>
            <a:ext cx="2409825" cy="4286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5388" y="3049122"/>
            <a:ext cx="1724025" cy="4762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1718" y="3525372"/>
            <a:ext cx="1143000" cy="48577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008915" y="270086"/>
            <a:ext cx="3110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IV. Endowment Insurance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96000" y="639418"/>
            <a:ext cx="5753100" cy="80021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400" i="1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US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n-year </a:t>
            </a:r>
            <a:r>
              <a:rPr lang="en-US" sz="1400" i="1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endowment insurance provides an amount to be paid at the moment of death if death occurs in the next n years or at the end of year n if the policyholder survives to that time. </a:t>
            </a: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096000" y="1511104"/>
            <a:ext cx="56292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As before, we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assume that the benefit amount is GH₵1.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5999" y="1887054"/>
            <a:ext cx="586263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payout from a unit-benefit n-year endowment insurance is illustrated in the diagram below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2688" y="3203506"/>
            <a:ext cx="5062538" cy="783155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81750" y="2496059"/>
            <a:ext cx="1833563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Death occurs here:</a:t>
            </a:r>
          </a:p>
          <a:p>
            <a:pPr algn="ctr">
              <a:spcAft>
                <a:spcPts val="600"/>
              </a:spcAft>
            </a:pPr>
            <a:r>
              <a:rPr lang="en-US" sz="12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Pay GH</a:t>
            </a:r>
            <a:r>
              <a:rPr lang="en-US" sz="1200" dirty="0" smtClean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₵</a:t>
            </a:r>
            <a:r>
              <a:rPr lang="en-US" sz="12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 at the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moment of death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472488" y="2441052"/>
            <a:ext cx="18049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Pay GH₵1 at time n if the policyholder is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alive at time 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095999" y="4104899"/>
            <a:ext cx="33746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 benefit function is </a:t>
            </a:r>
            <a:r>
              <a:rPr lang="en-US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i="1" baseline="-250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Tx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1 for all </a:t>
            </a:r>
            <a:r>
              <a:rPr lang="en-US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Tx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084094" y="4432498"/>
            <a:ext cx="577691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Multiplying it with appropriate discount factors, we obtain the present value random variable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83320" y="4913959"/>
            <a:ext cx="1915079" cy="89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6891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040" y="809153"/>
            <a:ext cx="5343525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It can be observed that 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 n-year endowment insurance is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simply a combination of an n-year term insurance and an n-year pure endowment.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4154" y="1606339"/>
            <a:ext cx="53435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follows that E(Z) for an n-year endowment insurance can be expressed as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081" y="2075486"/>
            <a:ext cx="2009775" cy="5434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6081" y="2772414"/>
            <a:ext cx="16834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 denote E(Z) by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884" y="2640416"/>
            <a:ext cx="535915" cy="51358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45461" y="3657056"/>
            <a:ext cx="3836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Note that there is no 1 above either </a:t>
            </a:r>
            <a:r>
              <a:rPr lang="en-US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or         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44040" y="4162928"/>
            <a:ext cx="30604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policy satisfies the criterion that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4154" y="4587750"/>
            <a:ext cx="20329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>
                <a:effectLst/>
                <a:latin typeface="Times New Roman" panose="02020603050405020304" pitchFamily="18" charset="0"/>
              </a:rPr>
              <a:t>b</a:t>
            </a:r>
            <a:r>
              <a:rPr lang="en-US" i="1" baseline="-25000" dirty="0" smtClean="0">
                <a:latin typeface="Times New Roman" panose="02020603050405020304" pitchFamily="18" charset="0"/>
              </a:rPr>
              <a:t>Tx</a:t>
            </a:r>
            <a:r>
              <a:rPr lang="en-US" i="1" dirty="0" smtClean="0">
                <a:latin typeface="Times New Roman" panose="02020603050405020304" pitchFamily="18" charset="0"/>
              </a:rPr>
              <a:t> </a:t>
            </a:r>
            <a:r>
              <a:rPr lang="en-US" dirty="0">
                <a:latin typeface="Arial" panose="020B0604020202020204" pitchFamily="34" charset="0"/>
              </a:rPr>
              <a:t>= </a:t>
            </a:r>
            <a:r>
              <a:rPr lang="en-US" sz="2000" dirty="0" smtClean="0">
                <a:latin typeface="Times New Roman" panose="02020603050405020304" pitchFamily="18" charset="0"/>
              </a:rPr>
              <a:t>0</a:t>
            </a:r>
            <a:r>
              <a:rPr lang="en-US" sz="20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1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for all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97083" y="4646492"/>
            <a:ext cx="35349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E(Z</a:t>
            </a: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 is E(Z) evaluated at 2δ is applicable </a:t>
            </a:r>
            <a:endParaRPr lang="en-US" sz="1400" dirty="0"/>
          </a:p>
        </p:txBody>
      </p:sp>
      <p:sp>
        <p:nvSpPr>
          <p:cNvPr id="11" name="Rectangle 10"/>
          <p:cNvSpPr/>
          <p:nvPr/>
        </p:nvSpPr>
        <p:spPr>
          <a:xfrm>
            <a:off x="326054" y="5210550"/>
            <a:ext cx="14686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Hence, we have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67100" y="5197054"/>
            <a:ext cx="25907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That is            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evaluated at </a:t>
            </a:r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2δ</a:t>
            </a:r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8180" y="5085275"/>
            <a:ext cx="1381125" cy="4953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696" y="5066278"/>
            <a:ext cx="535915" cy="51358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373" y="6251161"/>
            <a:ext cx="2190750" cy="5334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154" y="5676022"/>
            <a:ext cx="2552700" cy="5334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3445" y="3684559"/>
            <a:ext cx="304800" cy="314325"/>
          </a:xfrm>
          <a:prstGeom prst="rect">
            <a:avLst/>
          </a:prstGeom>
          <a:solidFill>
            <a:srgbClr val="FFFF00"/>
          </a:solidFill>
        </p:spPr>
      </p:pic>
      <p:sp>
        <p:nvSpPr>
          <p:cNvPr id="12" name="Rectangle 11"/>
          <p:cNvSpPr/>
          <p:nvPr/>
        </p:nvSpPr>
        <p:spPr>
          <a:xfrm>
            <a:off x="6261463" y="721255"/>
            <a:ext cx="57737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Similarly, if the death benefit is payable at the end of the year of death, the present value is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7294224" y="1200650"/>
                <a:ext cx="2359620" cy="8117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4224" y="1200650"/>
                <a:ext cx="2359620" cy="81176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7016533" y="2040358"/>
                <a:ext cx="2485424" cy="7842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16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600" i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nary>
                      <m:sPre>
                        <m:sPre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sPre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6533" y="2040358"/>
                <a:ext cx="2485424" cy="7842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4034" y="4894813"/>
            <a:ext cx="476401" cy="4561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9296806" y="2313226"/>
                <a:ext cx="164083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P</m:t>
                          </m:r>
                          <m:func>
                            <m:func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 i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fName>
                            <m:e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6806" y="2313226"/>
                <a:ext cx="1640834" cy="338554"/>
              </a:xfrm>
              <a:prstGeom prst="rect">
                <a:avLst/>
              </a:prstGeom>
              <a:blipFill>
                <a:blip r:embed="rId11"/>
                <a:stretch>
                  <a:fillRect t="-108929" r="-26766" b="-16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/>
          <p:cNvSpPr/>
          <p:nvPr/>
        </p:nvSpPr>
        <p:spPr>
          <a:xfrm>
            <a:off x="6780696" y="4986277"/>
            <a:ext cx="16834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 denote E(Z) by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602833" y="3775124"/>
            <a:ext cx="533661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Recall that an n-year endowment insurance is just a combination of an n-year term life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insurance and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 n-year pure endowment. Hence, we have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10013" y="4434090"/>
            <a:ext cx="1819275" cy="49530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8926343" y="5015293"/>
            <a:ext cx="14189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Hence we have</a:t>
            </a:r>
            <a:endParaRPr lang="en-US" sz="1400" dirty="0"/>
          </a:p>
        </p:txBody>
      </p:sp>
      <p:sp>
        <p:nvSpPr>
          <p:cNvPr id="44" name="Rectangle 43"/>
          <p:cNvSpPr/>
          <p:nvPr/>
        </p:nvSpPr>
        <p:spPr>
          <a:xfrm>
            <a:off x="6261463" y="371597"/>
            <a:ext cx="514756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smtClean="0">
                <a:solidFill>
                  <a:srgbClr val="990033"/>
                </a:solidFill>
                <a:latin typeface="Arial" panose="020B0604020202020204" pitchFamily="34" charset="0"/>
              </a:rPr>
              <a:t>Endowment payable </a:t>
            </a:r>
            <a:r>
              <a:rPr lang="en-US" sz="1600" b="1" dirty="0">
                <a:solidFill>
                  <a:srgbClr val="990033"/>
                </a:solidFill>
                <a:latin typeface="Arial" panose="020B0604020202020204" pitchFamily="34" charset="0"/>
              </a:rPr>
              <a:t>at the end of the year of death</a:t>
            </a:r>
            <a:endParaRPr lang="en-US" sz="1600" b="1" dirty="0">
              <a:solidFill>
                <a:srgbClr val="990033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18143" y="420378"/>
            <a:ext cx="44855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smtClean="0">
                <a:solidFill>
                  <a:srgbClr val="0000FF"/>
                </a:solidFill>
                <a:latin typeface="Arial" panose="020B0604020202020204" pitchFamily="34" charset="0"/>
              </a:rPr>
              <a:t>Endowment payable </a:t>
            </a:r>
            <a:r>
              <a:rPr lang="en-US" sz="1600" b="1" dirty="0">
                <a:solidFill>
                  <a:srgbClr val="0000FF"/>
                </a:solidFill>
                <a:latin typeface="Arial" panose="020B0604020202020204" pitchFamily="34" charset="0"/>
              </a:rPr>
              <a:t>at the </a:t>
            </a:r>
            <a:r>
              <a:rPr lang="en-US" sz="1600" b="1" dirty="0" smtClean="0">
                <a:solidFill>
                  <a:srgbClr val="0000FF"/>
                </a:solidFill>
                <a:latin typeface="Arial" panose="020B0604020202020204" pitchFamily="34" charset="0"/>
              </a:rPr>
              <a:t>moment of </a:t>
            </a:r>
            <a:r>
              <a:rPr lang="en-US" sz="1600" b="1" dirty="0">
                <a:solidFill>
                  <a:srgbClr val="0000FF"/>
                </a:solidFill>
                <a:latin typeface="Arial" panose="020B0604020202020204" pitchFamily="34" charset="0"/>
              </a:rPr>
              <a:t>death</a:t>
            </a:r>
            <a:endParaRPr lang="en-US" sz="1600" b="1" dirty="0">
              <a:solidFill>
                <a:srgbClr val="0000FF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898221" y="5852447"/>
            <a:ext cx="35349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E(Z</a:t>
            </a: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 is E(Z) evaluated at 2δ is applicable </a:t>
            </a:r>
            <a:endParaRPr lang="en-US" sz="1400" dirty="0"/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23673" y="6160224"/>
            <a:ext cx="1971675" cy="495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17412" y="3175471"/>
                <a:ext cx="2272225" cy="4008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 </m:t>
                          </m:r>
                        </m:sup>
                      </m:sSubSup>
                      <m:r>
                        <a:rPr lang="en-US" sz="20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20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1</m:t>
                              </m:r>
                            </m:sup>
                          </m:sSubSup>
                          <m:r>
                            <a:rPr 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 1</m:t>
                          </m:r>
                        </m:sup>
                      </m:sSubSup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12" y="3175471"/>
                <a:ext cx="2272225" cy="40081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7803808" y="5316108"/>
                <a:ext cx="20628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 </m:t>
                          </m:r>
                        </m:sup>
                      </m:sSubSup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1</m:t>
                              </m:r>
                            </m:sup>
                          </m:sSubSup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 1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3808" y="5316108"/>
                <a:ext cx="2062872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7116229" y="2928226"/>
                <a:ext cx="3703706" cy="8707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nary>
                      <m:sPre>
                        <m:sPre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sPre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Pre>
                        <m:sPre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sPre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6229" y="2928226"/>
                <a:ext cx="3703706" cy="87075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176265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18249" y="163613"/>
            <a:ext cx="30873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V.  Deferred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Life Insurance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0670" y="2823949"/>
            <a:ext cx="438454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The APV of a deferred insurance benefit is given as: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95595" y="6165273"/>
            <a:ext cx="17556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The variance of Z is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780" y="6030453"/>
            <a:ext cx="2762250" cy="5334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98870" y="585745"/>
            <a:ext cx="46394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if the sum assured is payable at the end of year of death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7327188" y="969818"/>
                <a:ext cx="2258632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&amp;0       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7188" y="969818"/>
                <a:ext cx="2258632" cy="7101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6180551" y="1683183"/>
            <a:ext cx="34356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The corresponding </a:t>
            </a:r>
            <a:r>
              <a:rPr lang="en-US" sz="1400" dirty="0" smtClean="0">
                <a:latin typeface="Arial" panose="020B0604020202020204" pitchFamily="34" charset="0"/>
              </a:rPr>
              <a:t>A.P.V</a:t>
            </a:r>
            <a:r>
              <a:rPr lang="en-US" sz="1400" dirty="0">
                <a:latin typeface="Arial" panose="020B0604020202020204" pitchFamily="34" charset="0"/>
              </a:rPr>
              <a:t>.’s are written as</a:t>
            </a:r>
            <a:endParaRPr lang="en-US" sz="1400" dirty="0"/>
          </a:p>
        </p:txBody>
      </p:sp>
      <p:sp>
        <p:nvSpPr>
          <p:cNvPr id="19" name="Rectangle 18"/>
          <p:cNvSpPr/>
          <p:nvPr/>
        </p:nvSpPr>
        <p:spPr>
          <a:xfrm>
            <a:off x="6084757" y="2759161"/>
            <a:ext cx="587991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We denote E(Z) by </a:t>
            </a:r>
            <a:r>
              <a:rPr lang="en-US" sz="14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0670" y="1514464"/>
            <a:ext cx="53597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If the benefit is payable immediately on death of (x) after the deferred period </a:t>
            </a:r>
            <a:r>
              <a:rPr lang="en-US" sz="1400" dirty="0" smtClean="0">
                <a:latin typeface="Arial" panose="020B0604020202020204" pitchFamily="34" charset="0"/>
              </a:rPr>
              <a:t>has elapsed</a:t>
            </a:r>
            <a:r>
              <a:rPr lang="en-US" sz="1400" dirty="0">
                <a:latin typeface="Arial" panose="020B0604020202020204" pitchFamily="34" charset="0"/>
              </a:rPr>
              <a:t>, the present value is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850591" y="2024936"/>
                <a:ext cx="3008388" cy="8117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&amp;0                    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591" y="2024936"/>
                <a:ext cx="3008388" cy="8117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6556" y="5421069"/>
            <a:ext cx="2463269" cy="563033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248342" y="576825"/>
            <a:ext cx="5464404" cy="954107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 deferred assurance provides a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benefit on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death of (x) if this occurs after a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certain period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called the deferred period (or, more correctly, the period of deferment), which we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usually write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n years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2740" y="4569147"/>
            <a:ext cx="1838325" cy="485775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259959" y="4102804"/>
            <a:ext cx="81945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6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= 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82570" y="4108880"/>
            <a:ext cx="17686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We denote E(Z) by</a:t>
            </a:r>
            <a:endParaRPr lang="en-US" sz="1400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35576" y="3935773"/>
            <a:ext cx="514727" cy="45533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198870" y="5395038"/>
            <a:ext cx="58015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two relationships that we previously derived for continuous insurance functions also apply in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the discrete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case, that is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87356" y="6040041"/>
            <a:ext cx="1819275" cy="457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084757" y="1859580"/>
                <a:ext cx="4608185" cy="8476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Pre>
                            <m:sPre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sub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sPre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nary>
                      <m:sPre>
                        <m:sPre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sPre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757" y="1859580"/>
                <a:ext cx="4608185" cy="84760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084757" y="3129158"/>
                <a:ext cx="5343194" cy="8476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Pre>
                        <m:sPre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sPre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nary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Pre>
                            <m:sPre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sub>
                            <m:sup/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sPre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nary>
                      <m:sPre>
                        <m:sPre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sPre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757" y="3129158"/>
                <a:ext cx="5343194" cy="84760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983421" y="4020605"/>
                <a:ext cx="2123210" cy="4440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sPre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Pre>
                            <m:sPre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sPre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3421" y="4020605"/>
                <a:ext cx="2123210" cy="444096"/>
              </a:xfrm>
              <a:prstGeom prst="rect">
                <a:avLst/>
              </a:prstGeom>
              <a:blipFill>
                <a:blip r:embed="rId14"/>
                <a:stretch>
                  <a:fillRect b="-9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31771" y="4622056"/>
                <a:ext cx="4756109" cy="6914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sPre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Pre>
                            <m:sPre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sPr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Pre>
                            <m:sPre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sPr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771" y="4622056"/>
                <a:ext cx="4756109" cy="69140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300670" y="3204796"/>
                <a:ext cx="4837413" cy="6914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Pre>
                        <m:sPre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|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sPre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70" y="3204796"/>
                <a:ext cx="4837413" cy="69140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013695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441949"/>
            <a:ext cx="22621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Recursive Relationships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17620"/>
            <a:ext cx="52512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We now state and prove the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recursive formulae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for the whole life, term, deferred, and endowment insurance functions.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08" y="2572863"/>
            <a:ext cx="5791200" cy="3048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916" y="1199053"/>
            <a:ext cx="2695575" cy="5905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425195"/>
            <a:ext cx="2387757" cy="56117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5634" y="2572863"/>
            <a:ext cx="5617028" cy="290868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35634" y="2197426"/>
            <a:ext cx="7120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Proof: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9108" y="2276993"/>
            <a:ext cx="7120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Proof: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42916" y="441949"/>
            <a:ext cx="22621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Recursive Relationships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708" y="1618698"/>
            <a:ext cx="9813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whole life </a:t>
            </a:r>
            <a:endParaRPr lang="en-US" sz="1400" dirty="0"/>
          </a:p>
        </p:txBody>
      </p:sp>
      <p:sp>
        <p:nvSpPr>
          <p:cNvPr id="13" name="Rectangle 12"/>
          <p:cNvSpPr/>
          <p:nvPr/>
        </p:nvSpPr>
        <p:spPr>
          <a:xfrm>
            <a:off x="9182809" y="1340439"/>
            <a:ext cx="58156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Term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8535549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12" y="773481"/>
            <a:ext cx="3067050" cy="5238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707" y="1886358"/>
            <a:ext cx="4210050" cy="17335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63707" y="1552030"/>
            <a:ext cx="7120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Proof: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8874" y="922277"/>
            <a:ext cx="2571750" cy="457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8874" y="2034131"/>
            <a:ext cx="6275486" cy="354806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02507" y="1552030"/>
            <a:ext cx="7120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Proof: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41949"/>
            <a:ext cx="22621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Recursive Relationships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8874" y="441948"/>
            <a:ext cx="22621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Recursive Relationships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2398" y="935867"/>
            <a:ext cx="88036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Deferred</a:t>
            </a:r>
            <a:endParaRPr lang="en-US" sz="1400" dirty="0"/>
          </a:p>
        </p:txBody>
      </p:sp>
      <p:sp>
        <p:nvSpPr>
          <p:cNvPr id="11" name="Rectangle 10"/>
          <p:cNvSpPr/>
          <p:nvPr/>
        </p:nvSpPr>
        <p:spPr>
          <a:xfrm>
            <a:off x="8856617" y="935867"/>
            <a:ext cx="11304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Endowment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8937052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003" y="788695"/>
            <a:ext cx="562532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There also exist recursive formulae for the second moments of the present value random variable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, however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since the proofs are similar to those for the first moment, we only prove the case for a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whole life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insurance.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71" y="1804850"/>
            <a:ext cx="2533650" cy="457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31" y="2276474"/>
            <a:ext cx="5781675" cy="41433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52754" y="847912"/>
            <a:ext cx="56779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For the other types of insurance the recursive formulae for the second moment are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768" y="1458693"/>
            <a:ext cx="3105150" cy="5238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5768" y="2157691"/>
            <a:ext cx="3114675" cy="5048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5768" y="2837639"/>
            <a:ext cx="3219450" cy="5238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87588" y="344279"/>
            <a:ext cx="22621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Recursive Relationships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5003" y="392082"/>
            <a:ext cx="22621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Recursive Relationships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82416" y="1458693"/>
            <a:ext cx="63126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Term </a:t>
            </a:r>
            <a:endParaRPr lang="en-US" sz="1400" dirty="0"/>
          </a:p>
        </p:txBody>
      </p:sp>
      <p:sp>
        <p:nvSpPr>
          <p:cNvPr id="13" name="Rectangle 12"/>
          <p:cNvSpPr/>
          <p:nvPr/>
        </p:nvSpPr>
        <p:spPr>
          <a:xfrm>
            <a:off x="9938015" y="2256214"/>
            <a:ext cx="11801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Endowment </a:t>
            </a:r>
            <a:endParaRPr lang="en-US" sz="1400" dirty="0"/>
          </a:p>
        </p:txBody>
      </p:sp>
      <p:sp>
        <p:nvSpPr>
          <p:cNvPr id="14" name="Rectangle 13"/>
          <p:cNvSpPr/>
          <p:nvPr/>
        </p:nvSpPr>
        <p:spPr>
          <a:xfrm>
            <a:off x="9938015" y="2899846"/>
            <a:ext cx="93006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Deferred </a:t>
            </a:r>
            <a:endParaRPr lang="en-US" sz="1400" dirty="0"/>
          </a:p>
        </p:txBody>
      </p:sp>
      <p:sp>
        <p:nvSpPr>
          <p:cNvPr id="15" name="Rectangle 14"/>
          <p:cNvSpPr/>
          <p:nvPr/>
        </p:nvSpPr>
        <p:spPr>
          <a:xfrm>
            <a:off x="3217769" y="1848784"/>
            <a:ext cx="10214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Whole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life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8818258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019" y="825474"/>
            <a:ext cx="6266117" cy="260917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2332" y="3885111"/>
            <a:ext cx="5837492" cy="266048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721898" y="3577334"/>
            <a:ext cx="18854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Discrete Insurances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17246" y="482212"/>
            <a:ext cx="217078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Continuous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Insurances</a:t>
            </a:r>
          </a:p>
        </p:txBody>
      </p:sp>
    </p:spTree>
    <p:extLst>
      <p:ext uri="{BB962C8B-B14F-4D97-AF65-F5344CB8AC3E}">
        <p14:creationId xmlns:p14="http://schemas.microsoft.com/office/powerpoint/2010/main" val="232847426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32366" y="2560320"/>
            <a:ext cx="30654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  <a:endParaRPr lang="en-US" sz="6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722974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13991</TotalTime>
  <Words>4672</Words>
  <Application>Microsoft Office PowerPoint</Application>
  <PresentationFormat>Widescreen</PresentationFormat>
  <Paragraphs>275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8" baseType="lpstr">
      <vt:lpstr>Arial</vt:lpstr>
      <vt:lpstr>Arial Black</vt:lpstr>
      <vt:lpstr>Arial Narrow</vt:lpstr>
      <vt:lpstr>Berlin Sans FB Demi</vt:lpstr>
      <vt:lpstr>Calibri</vt:lpstr>
      <vt:lpstr>Calibri Light</vt:lpstr>
      <vt:lpstr>Cambria Math</vt:lpstr>
      <vt:lpstr>CMBX12</vt:lpstr>
      <vt:lpstr>CMMI12</vt:lpstr>
      <vt:lpstr>CMR10</vt:lpstr>
      <vt:lpstr>CMR12</vt:lpstr>
      <vt:lpstr>Segoe UI Black</vt:lpstr>
      <vt:lpstr>Symbol</vt:lpstr>
      <vt:lpstr>Times New Roman</vt:lpstr>
      <vt:lpstr>Wingdings</vt:lpstr>
      <vt:lpstr>Office Theme</vt:lpstr>
      <vt:lpstr>Life Insurance Benefits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Insurance Benefits</dc:title>
  <dc:creator>Stephen Yeboah [SSNIT - Office of the Chief Actuary]</dc:creator>
  <cp:lastModifiedBy>Stephen Yeboah [SSNIT - Office of the Chief Actuary]</cp:lastModifiedBy>
  <cp:revision>134</cp:revision>
  <dcterms:created xsi:type="dcterms:W3CDTF">2022-03-20T13:49:12Z</dcterms:created>
  <dcterms:modified xsi:type="dcterms:W3CDTF">2022-03-31T15:10:31Z</dcterms:modified>
</cp:coreProperties>
</file>